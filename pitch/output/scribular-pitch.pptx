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My wife became a therapist because she wanted to help people. But the paperwork gets in the way, and it's draining the love she has for her profession.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AI could help, but therapy is confidential. And its not just in therapy- In our research, privacy and security is the number one barrier for small businesses adopting AI.
EVIDENCE NOTE: SBE Council, Small Business Technology Use Survey (March 2026), printed p. 40, on the single biggest barrier to AI adoption: 30% of owners name data privacy (17%) or cybersecurity (13%), ahead of limited knowledge (23%). The "#1" claim is for the combined privacy &amp; security category. Privacy alone (17%) is NOT #1, so do not say "privacy is the number one barrier" on its own. Survey method: online survey by TechnoMetrica using panel partners; fielded February 17–23, 2026; 517 owners at firms with 2–99 employees.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Local models exist, and its no problem for big business IT departments to build and maintain it. But its a huge hurdle for small businesses. Its costly and requires technical expertise.
Introducing Scribular- it already turns a session transcript into a draft note with local processing. Today, we built self-service customization, so clinicians stop emailing us or engineering prompts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Switch to live Scribular demo.
Today, we built that missing piece.
Here is a transcript. Scribular generates a draft. She types: “Add the diagnoses, but keep the client's quotes.” Scribular shows the proposed change. She reviews it, confirms, and previews the result. If it works for her, she saves that style for future notes. If not, she stays with what she had.
No prompt engineering. No email thread. She decides what changes.
EXACT COMMAND TO SHOW: “Add the diagnoses, but keep the client's quotes.”
SAFETY RECOMMENDATION: Include only diagnoses explicitly documented in the transcript; do not infer new diagnoses.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Local AI gets us most of the way across the bridge. We are closing the gap between a model that runs and a tool a therapist can use.
Now my wife can go back to doing what she loves- taking care of her clients
METRIC NOTE: “5+ hours / week” is an illustrative goal, not an achieved or measured Scribular outcome. The $3,000/month figure is an illustrative value of time based on 5 hours/week × 4 weeks/month × $150/hour. It represents time value, not cash cost savings; the estimate is unvalidated. The SBE Council survey separately reports a median five hours saved weekly by small-business owners through AI use, but this deck’s metric is not a Scribular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sbecouncil.org/wp-content/uploads/2026/03/SBE-Technology-Use-Survey-March-2026-Final-2.pdf" TargetMode="Externa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40080" y="1828800"/>
            <a:ext cx="10908792" cy="2011680"/>
          </a:xfrm>
          <a:prstGeom prst="rect">
            <a:avLst/>
          </a:prstGeom>
          <a:noFill/>
          <a:ln/>
        </p:spPr>
        <p:txBody>
          <a:bodyPr wrap="square" lIns="0" tIns="0" rIns="0" bIns="0" rtlCol="0" anchor="ctr"/>
          <a:lstStyle/>
          <a:p>
            <a:pPr algn="ctr" indent="0" marL="0">
              <a:buNone/>
            </a:pPr>
            <a:r>
              <a:rPr lang="en-US" sz="5400" b="1" dirty="0">
                <a:solidFill>
                  <a:srgbClr val="1E2A26"/>
                </a:solidFill>
                <a:latin typeface="Cambria" pitchFamily="34" charset="0"/>
                <a:ea typeface="Cambria" pitchFamily="34" charset="-122"/>
                <a:cs typeface="Cambria" pitchFamily="34" charset="-120"/>
              </a:rPr>
              <a:t>She became a therapist</a:t>
            </a:r>
            <a:endParaRPr lang="en-US" sz="5400" dirty="0"/>
          </a:p>
          <a:p>
            <a:pPr algn="ctr" indent="0" marL="0">
              <a:buNone/>
            </a:pPr>
            <a:r>
              <a:rPr lang="en-US" sz="5400" b="1" dirty="0">
                <a:solidFill>
                  <a:srgbClr val="1E2A26"/>
                </a:solidFill>
                <a:latin typeface="Cambria" pitchFamily="34" charset="0"/>
                <a:ea typeface="Cambria" pitchFamily="34" charset="-122"/>
                <a:cs typeface="Cambria" pitchFamily="34" charset="-120"/>
              </a:rPr>
              <a:t>to help people.</a:t>
            </a:r>
            <a:endParaRPr lang="en-US" sz="5400" dirty="0"/>
          </a:p>
        </p:txBody>
      </p:sp>
      <p:sp>
        <p:nvSpPr>
          <p:cNvPr id="3" name="Text 1"/>
          <p:cNvSpPr/>
          <p:nvPr/>
        </p:nvSpPr>
        <p:spPr>
          <a:xfrm>
            <a:off x="640080" y="4114800"/>
            <a:ext cx="10908792" cy="640080"/>
          </a:xfrm>
          <a:prstGeom prst="rect">
            <a:avLst/>
          </a:prstGeom>
          <a:noFill/>
          <a:ln/>
        </p:spPr>
        <p:txBody>
          <a:bodyPr wrap="square" lIns="0" tIns="0" rIns="0" bIns="0" rtlCol="0" anchor="ctr"/>
          <a:lstStyle/>
          <a:p>
            <a:pPr algn="ctr" indent="0" marL="0">
              <a:buNone/>
            </a:pPr>
            <a:r>
              <a:rPr lang="en-US" sz="2600" dirty="0">
                <a:solidFill>
                  <a:srgbClr val="6B7A74"/>
                </a:solidFill>
                <a:latin typeface="Arial" pitchFamily="34" charset="0"/>
                <a:ea typeface="Arial" pitchFamily="34" charset="-122"/>
                <a:cs typeface="Arial" pitchFamily="34" charset="-120"/>
              </a:rPr>
              <a:t>Not to do paperwork.</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365760"/>
            <a:ext cx="10908792" cy="2697480"/>
          </a:xfrm>
          <a:prstGeom prst="rect">
            <a:avLst/>
          </a:prstGeom>
          <a:noFill/>
          <a:ln/>
        </p:spPr>
        <p:txBody>
          <a:bodyPr wrap="square" lIns="0" tIns="0" rIns="0" bIns="0" rtlCol="0" anchor="ctr"/>
          <a:lstStyle/>
          <a:p>
            <a:pPr algn="ctr" indent="0" marL="0">
              <a:buNone/>
            </a:pPr>
            <a:r>
              <a:rPr lang="en-US" sz="16000" b="1" dirty="0">
                <a:solidFill>
                  <a:srgbClr val="1F6B52"/>
                </a:solidFill>
                <a:latin typeface="Cambria" pitchFamily="34" charset="0"/>
                <a:ea typeface="Cambria" pitchFamily="34" charset="-122"/>
                <a:cs typeface="Cambria" pitchFamily="34" charset="-120"/>
              </a:rPr>
              <a:t>#1</a:t>
            </a:r>
            <a:endParaRPr lang="en-US" sz="16000" dirty="0"/>
          </a:p>
        </p:txBody>
      </p:sp>
      <p:sp>
        <p:nvSpPr>
          <p:cNvPr id="3" name="Text 1"/>
          <p:cNvSpPr/>
          <p:nvPr/>
        </p:nvSpPr>
        <p:spPr>
          <a:xfrm>
            <a:off x="640080" y="3108960"/>
            <a:ext cx="10908792" cy="914400"/>
          </a:xfrm>
          <a:prstGeom prst="rect">
            <a:avLst/>
          </a:prstGeom>
          <a:noFill/>
          <a:ln/>
        </p:spPr>
        <p:txBody>
          <a:bodyPr wrap="square" lIns="0" tIns="0" rIns="0" bIns="0" rtlCol="0" anchor="ctr"/>
          <a:lstStyle/>
          <a:p>
            <a:pPr algn="ctr" indent="0" marL="0">
              <a:buNone/>
            </a:pPr>
            <a:r>
              <a:rPr lang="en-US" sz="4800" b="1" dirty="0">
                <a:solidFill>
                  <a:srgbClr val="1E2A26"/>
                </a:solidFill>
                <a:latin typeface="Cambria" pitchFamily="34" charset="0"/>
                <a:ea typeface="Cambria" pitchFamily="34" charset="-122"/>
                <a:cs typeface="Cambria" pitchFamily="34" charset="-120"/>
              </a:rPr>
              <a:t>Privacy &amp; security</a:t>
            </a:r>
            <a:endParaRPr lang="en-US" sz="4800" dirty="0"/>
          </a:p>
        </p:txBody>
      </p:sp>
      <p:sp>
        <p:nvSpPr>
          <p:cNvPr id="4" name="Text 2"/>
          <p:cNvSpPr/>
          <p:nvPr/>
        </p:nvSpPr>
        <p:spPr>
          <a:xfrm>
            <a:off x="640080" y="4069080"/>
            <a:ext cx="10908792" cy="548640"/>
          </a:xfrm>
          <a:prstGeom prst="rect">
            <a:avLst/>
          </a:prstGeom>
          <a:noFill/>
          <a:ln/>
        </p:spPr>
        <p:txBody>
          <a:bodyPr wrap="square" lIns="0" tIns="0" rIns="0" bIns="0" rtlCol="0" anchor="ctr"/>
          <a:lstStyle/>
          <a:p>
            <a:pPr algn="ctr" indent="0" marL="0">
              <a:buNone/>
            </a:pPr>
            <a:r>
              <a:rPr lang="en-US" sz="2400" dirty="0">
                <a:solidFill>
                  <a:srgbClr val="6B7A74"/>
                </a:solidFill>
                <a:latin typeface="Arial" pitchFamily="34" charset="0"/>
                <a:ea typeface="Arial" pitchFamily="34" charset="-122"/>
                <a:cs typeface="Arial" pitchFamily="34" charset="-120"/>
              </a:rPr>
              <a:t>the biggest barrier to small-business AI adoption</a:t>
            </a:r>
            <a:endParaRPr lang="en-US" sz="2400" dirty="0"/>
          </a:p>
        </p:txBody>
      </p:sp>
      <p:sp>
        <p:nvSpPr>
          <p:cNvPr id="5" name="Text 3">
            <a:hlinkClick r:id="rId1" tooltip=""/>
          </p:cNvPr>
          <p:cNvSpPr/>
          <p:nvPr/>
        </p:nvSpPr>
        <p:spPr>
          <a:xfrm>
            <a:off x="640080" y="5806440"/>
            <a:ext cx="10908792" cy="548640"/>
          </a:xfrm>
          <a:prstGeom prst="rect">
            <a:avLst/>
          </a:prstGeom>
          <a:noFill/>
          <a:ln/>
        </p:spPr>
        <p:txBody>
          <a:bodyPr wrap="square" lIns="0" tIns="0" rIns="0" bIns="0" rtlCol="0" anchor="ctr"/>
          <a:lstStyle/>
          <a:p>
            <a:pPr algn="ctr" indent="0" marL="0">
              <a:buNone/>
            </a:pPr>
            <a:r>
              <a:rPr lang="en-US" sz="1100" u="sng" dirty="0">
                <a:solidFill>
                  <a:srgbClr val="6B7A74"/>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30% name data privacy (17%) or cybersecurity (13%) as their single biggest barrier, ahead of limited knowledge (23%). SBE Council, Small Business Technology Use Survey, March 2026, p.40.</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1828800"/>
            <a:ext cx="10908792" cy="2011680"/>
          </a:xfrm>
          <a:prstGeom prst="rect">
            <a:avLst/>
          </a:prstGeom>
          <a:noFill/>
          <a:ln/>
        </p:spPr>
        <p:txBody>
          <a:bodyPr wrap="square" lIns="0" tIns="0" rIns="0" bIns="0" rtlCol="0" anchor="ctr"/>
          <a:lstStyle/>
          <a:p>
            <a:pPr algn="ctr" indent="0" marL="0">
              <a:buNone/>
            </a:pPr>
            <a:r>
              <a:rPr lang="en-US" sz="5400" b="1" dirty="0">
                <a:solidFill>
                  <a:srgbClr val="1E2A26"/>
                </a:solidFill>
                <a:latin typeface="Cambria" pitchFamily="34" charset="0"/>
                <a:ea typeface="Cambria" pitchFamily="34" charset="-122"/>
                <a:cs typeface="Cambria" pitchFamily="34" charset="-120"/>
              </a:rPr>
              <a:t>Local AI is private.</a:t>
            </a:r>
            <a:endParaRPr lang="en-US" sz="5400" dirty="0"/>
          </a:p>
          <a:p>
            <a:pPr algn="ctr" indent="0" marL="0">
              <a:buNone/>
            </a:pPr>
            <a:r>
              <a:rPr lang="en-US" sz="5400" b="1" dirty="0">
                <a:solidFill>
                  <a:srgbClr val="1E2A26"/>
                </a:solidFill>
                <a:latin typeface="Cambria" pitchFamily="34" charset="0"/>
                <a:ea typeface="Cambria" pitchFamily="34" charset="-122"/>
                <a:cs typeface="Cambria" pitchFamily="34" charset="-120"/>
              </a:rPr>
              <a:t>It isn’t easy.</a:t>
            </a:r>
            <a:endParaRPr lang="en-US" sz="5400" dirty="0"/>
          </a:p>
        </p:txBody>
      </p:sp>
      <p:sp>
        <p:nvSpPr>
          <p:cNvPr id="3" name="Text 1"/>
          <p:cNvSpPr/>
          <p:nvPr/>
        </p:nvSpPr>
        <p:spPr>
          <a:xfrm>
            <a:off x="640080" y="4114800"/>
            <a:ext cx="10908792" cy="640080"/>
          </a:xfrm>
          <a:prstGeom prst="rect">
            <a:avLst/>
          </a:prstGeom>
          <a:noFill/>
          <a:ln/>
        </p:spPr>
        <p:txBody>
          <a:bodyPr wrap="square" lIns="0" tIns="0" rIns="0" bIns="0" rtlCol="0" anchor="ctr"/>
          <a:lstStyle/>
          <a:p>
            <a:pPr algn="ctr" indent="0" marL="0">
              <a:buNone/>
            </a:pPr>
            <a:r>
              <a:rPr lang="en-US" sz="2600" dirty="0">
                <a:solidFill>
                  <a:srgbClr val="6B7A74"/>
                </a:solidFill>
                <a:latin typeface="Arial" pitchFamily="34" charset="0"/>
                <a:ea typeface="Arial" pitchFamily="34" charset="-122"/>
                <a:cs typeface="Arial" pitchFamily="34" charset="-120"/>
              </a:rPr>
              <a:t>Too hard for small practices.</a:t>
            </a:r>
            <a:endParaRPr lang="en-US" sz="2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1828800"/>
            <a:ext cx="10908792" cy="2743200"/>
          </a:xfrm>
          <a:prstGeom prst="rect">
            <a:avLst/>
          </a:prstGeom>
          <a:noFill/>
          <a:ln/>
        </p:spPr>
        <p:txBody>
          <a:bodyPr wrap="square" lIns="0" tIns="0" rIns="0" bIns="0" rtlCol="0" anchor="ctr"/>
          <a:lstStyle/>
          <a:p>
            <a:pPr algn="ctr" indent="0" marL="0">
              <a:buNone/>
            </a:pPr>
            <a:r>
              <a:rPr lang="en-US" sz="16000" b="1" dirty="0">
                <a:solidFill>
                  <a:srgbClr val="1F6B52"/>
                </a:solidFill>
                <a:latin typeface="Cambria" pitchFamily="34" charset="0"/>
                <a:ea typeface="Cambria" pitchFamily="34" charset="-122"/>
                <a:cs typeface="Cambria" pitchFamily="34" charset="-120"/>
              </a:rPr>
              <a:t>DEMO</a:t>
            </a:r>
            <a:endParaRPr lang="en-US" sz="16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1737360"/>
            <a:ext cx="10908792" cy="2011680"/>
          </a:xfrm>
          <a:prstGeom prst="rect">
            <a:avLst/>
          </a:prstGeom>
          <a:noFill/>
          <a:ln/>
        </p:spPr>
        <p:txBody>
          <a:bodyPr wrap="square" lIns="0" tIns="0" rIns="0" bIns="0" rtlCol="0" anchor="ctr"/>
          <a:lstStyle/>
          <a:p>
            <a:pPr algn="ctr" indent="0" marL="0">
              <a:buNone/>
            </a:pPr>
            <a:r>
              <a:rPr lang="en-US" sz="5400" b="1" dirty="0">
                <a:solidFill>
                  <a:srgbClr val="1E2A26"/>
                </a:solidFill>
                <a:latin typeface="Cambria" pitchFamily="34" charset="0"/>
                <a:ea typeface="Cambria" pitchFamily="34" charset="-122"/>
                <a:cs typeface="Cambria" pitchFamily="34" charset="-120"/>
              </a:rPr>
              <a:t>Private notes,</a:t>
            </a:r>
            <a:endParaRPr lang="en-US" sz="5400" dirty="0"/>
          </a:p>
          <a:p>
            <a:pPr algn="ctr" indent="0" marL="0">
              <a:buNone/>
            </a:pPr>
            <a:r>
              <a:rPr lang="en-US" sz="5400" b="1" dirty="0">
                <a:solidFill>
                  <a:srgbClr val="1E2A26"/>
                </a:solidFill>
                <a:latin typeface="Cambria" pitchFamily="34" charset="0"/>
                <a:ea typeface="Cambria" pitchFamily="34" charset="-122"/>
                <a:cs typeface="Cambria" pitchFamily="34" charset="-120"/>
              </a:rPr>
              <a:t>in her own words.</a:t>
            </a:r>
            <a:endParaRPr lang="en-US" sz="5400" dirty="0"/>
          </a:p>
        </p:txBody>
      </p:sp>
      <p:sp>
        <p:nvSpPr>
          <p:cNvPr id="3" name="Text 1"/>
          <p:cNvSpPr/>
          <p:nvPr/>
        </p:nvSpPr>
        <p:spPr>
          <a:xfrm>
            <a:off x="640080" y="4114800"/>
            <a:ext cx="10908792" cy="822960"/>
          </a:xfrm>
          <a:prstGeom prst="rect">
            <a:avLst/>
          </a:prstGeom>
          <a:noFill/>
          <a:ln/>
        </p:spPr>
        <p:txBody>
          <a:bodyPr wrap="square" lIns="0" tIns="0" rIns="0" bIns="0" rtlCol="0" anchor="ctr"/>
          <a:lstStyle/>
          <a:p>
            <a:pPr algn="ctr" indent="0" marL="0">
              <a:buNone/>
            </a:pPr>
            <a:r>
              <a:rPr lang="en-US" sz="3600" b="1" dirty="0">
                <a:solidFill>
                  <a:srgbClr val="1F6B52"/>
                </a:solidFill>
                <a:latin typeface="Cambria" pitchFamily="34" charset="0"/>
                <a:ea typeface="Cambria" pitchFamily="34" charset="-122"/>
                <a:cs typeface="Cambria" pitchFamily="34" charset="-120"/>
              </a:rPr>
              <a:t>Scribular</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Scribular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Scribular — Local AI, made usable</dc:title>
  <dc:subject>Pitch deck</dc:subject>
  <dc:creator>Scribular</dc:creator>
  <cp:lastModifiedBy>Scribular</cp:lastModifiedBy>
  <cp:revision>1</cp:revision>
  <dcterms:created xsi:type="dcterms:W3CDTF">2026-10-26T00:07:12Z</dcterms:created>
  <dcterms:modified xsi:type="dcterms:W3CDTF">2026-10-26T00:07:12Z</dcterms:modified>
</cp:coreProperties>
</file>