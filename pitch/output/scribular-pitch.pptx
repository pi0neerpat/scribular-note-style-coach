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My wife became a therapist because she wanted to help people. But the paperwork gets in the way, and it's draining the love she has for her profession.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AI could help, but therapy is confidential. And its not just in therapy- In our research, privacy and security ranked as the top concern for small businesses who need AI.
EDITORIAL NOTE: The cited public research does NOT support the “top concern” / #1 ranking claim. Q20 reports reliability and accuracy concerns at 45%, and data security/privacy risks at 42%, among 425 users of AI tools. Recommend saying “a major concern.” Method: online survey by TechnoMetrica using panel partners; fielded February 17–23, 2026; 517 owners at firms with 2–99 employees; stated credibility interval ±4.4 percentage points.
EXACT Q20 BASE/SOURCE: “Q20. What are your company's main concerns about using AI? (Please select all that apply). Base=425 Users of AI tools, +/-5.0 PTS”. Source: SBE Council, Small Business Technology Use Survey (March 2026), printed p. 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Local models exist, and its no problem for big business IT departments to build and maintain it. But its a huge hurdle for small businesses. Its costly and requires technical expertise.
Introducing Scribular- it already turns a session transcript into a draft note with local processing. Today, we built self-service customization, so clinicians stop emailing us or engineering prompts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Switch to live Scribular demo.
Today, we built that missing piece.
Here is a transcript. Scribular generates a draft. She types: “Add the diagnoses, but keep the client's quotes.” Scribular shows the proposed change. She reviews it, confirms, and previews the result. If it works for her, she saves that style for future notes. If not, she stays with what she had.
No prompt engineering. No email thread. She decides what changes.
EXACT COMMAND TO SHOW: “Add the diagnoses, but keep the client's quotes.”
SAFETY RECOMMENDATION: Include only diagnoses explicitly documented in the transcript; do not infer new diagnoses.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Local AI gets us most of the way across the bridge. We are closing the gap between a model that runs and a tool a therapist can use.
Now my wife can go back to doing what she loves- taking care of her clients
METRIC NOTE: “5+ hours / week” is an illustrative goal, not an achieved or measured Scribular outcome. The $3,000/month figure is an illustrative value of time based on 5 hours/week × 4 weeks/month × $150/hour. It represents time value, not cash cost savings; the estimate is unvalidated. The SBE Council survey separately reports a median five hours saved weekly by small-business owners through AI use, but this deck’s metric is not a Scribular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75488" y="6492240"/>
            <a:ext cx="1828800" cy="201168"/>
          </a:xfrm>
          <a:prstGeom prst="rect">
            <a:avLst/>
          </a:prstGeom>
          <a:noFill/>
          <a:ln/>
        </p:spPr>
        <p:txBody>
          <a:bodyPr wrap="square" lIns="0" tIns="0" rIns="0" bIns="0" rtlCol="0" anchor="ctr"/>
          <a:lstStyle/>
          <a:p>
            <a:pPr indent="0" marL="0">
              <a:buNone/>
            </a:pPr>
            <a:r>
              <a:rPr lang="en-US" sz="1000" b="1" spc="180" kern="0" dirty="0">
                <a:solidFill>
                  <a:srgbClr val="527366"/>
                </a:solidFill>
                <a:latin typeface="Arial" pitchFamily="34" charset="0"/>
                <a:ea typeface="Arial" pitchFamily="34" charset="-122"/>
                <a:cs typeface="Arial" pitchFamily="34" charset="-120"/>
              </a:rPr>
              <a:t>SCRIBULAR</a:t>
            </a:r>
            <a:endParaRPr lang="en-US" sz="1000" dirty="0"/>
          </a:p>
        </p:txBody>
      </p:sp>
      <p:sp>
        <p:nvSpPr>
          <p:cNvPr id="3" name="Text 1"/>
          <p:cNvSpPr/>
          <p:nvPr/>
        </p:nvSpPr>
        <p:spPr>
          <a:xfrm>
            <a:off x="6949440" y="6492240"/>
            <a:ext cx="4754880" cy="201168"/>
          </a:xfrm>
          <a:prstGeom prst="rect">
            <a:avLst/>
          </a:prstGeom>
          <a:noFill/>
          <a:ln/>
        </p:spPr>
        <p:txBody>
          <a:bodyPr wrap="square" lIns="0" tIns="0" rIns="0" bIns="0" rtlCol="0" anchor="ctr"/>
          <a:lstStyle/>
          <a:p>
            <a:pPr algn="r" indent="0" marL="0">
              <a:buNone/>
            </a:pPr>
            <a:r>
              <a:rPr lang="en-US" sz="1000" spc="80" kern="0" dirty="0">
                <a:solidFill>
                  <a:srgbClr val="71857C"/>
                </a:solidFill>
                <a:latin typeface="Arial" pitchFamily="34" charset="0"/>
                <a:ea typeface="Arial" pitchFamily="34" charset="-122"/>
                <a:cs typeface="Arial" pitchFamily="34" charset="-120"/>
              </a:rPr>
              <a:t>PRIVATE BY DESIGN  ·  HUMAN BY DEFAULT</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3D3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sbecouncil.org/wp-content/uploads/2026/03/SBE-Technology-Use-Survey-March-2026-Final-2.pdf"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58368" y="566928"/>
            <a:ext cx="3657600" cy="256032"/>
          </a:xfrm>
          <a:prstGeom prst="rect">
            <a:avLst/>
          </a:prstGeom>
          <a:noFill/>
          <a:ln/>
        </p:spPr>
        <p:txBody>
          <a:bodyPr wrap="square" lIns="0" tIns="0" rIns="0" bIns="0" rtlCol="0" anchor="ctr">
            <a:normAutofit/>
          </a:bodyPr>
          <a:lstStyle/>
          <a:p>
            <a:pPr algn="l" indent="0" marL="0">
              <a:buNone/>
            </a:pPr>
            <a:r>
              <a:rPr lang="en-US" sz="1100" b="1" spc="170" kern="0" dirty="0">
                <a:solidFill>
                  <a:srgbClr val="235947"/>
                </a:solidFill>
                <a:latin typeface="Arial" pitchFamily="34" charset="0"/>
                <a:ea typeface="Arial" pitchFamily="34" charset="-122"/>
                <a:cs typeface="Arial" pitchFamily="34" charset="-120"/>
              </a:rPr>
              <a:t>A HUMAN PROBLEM</a:t>
            </a:r>
            <a:endParaRPr lang="en-US" sz="1100" dirty="0"/>
          </a:p>
        </p:txBody>
      </p:sp>
      <p:sp>
        <p:nvSpPr>
          <p:cNvPr id="3" name="Text 1"/>
          <p:cNvSpPr/>
          <p:nvPr/>
        </p:nvSpPr>
        <p:spPr>
          <a:xfrm>
            <a:off x="658368" y="960120"/>
            <a:ext cx="6400800" cy="1417320"/>
          </a:xfrm>
          <a:prstGeom prst="rect">
            <a:avLst/>
          </a:prstGeom>
          <a:noFill/>
          <a:ln/>
        </p:spPr>
        <p:txBody>
          <a:bodyPr wrap="square" lIns="0" tIns="0" rIns="0" bIns="0" rtlCol="0" anchor="ctr">
            <a:normAutofit/>
          </a:bodyPr>
          <a:lstStyle/>
          <a:p>
            <a:pPr algn="l" indent="0" marL="0">
              <a:buNone/>
            </a:pPr>
            <a:r>
              <a:rPr lang="en-US" sz="3900" b="1" dirty="0">
                <a:solidFill>
                  <a:srgbClr val="143D32"/>
                </a:solidFill>
                <a:latin typeface="Cambria" pitchFamily="34" charset="0"/>
                <a:ea typeface="Cambria" pitchFamily="34" charset="-122"/>
                <a:cs typeface="Cambria" pitchFamily="34" charset="-120"/>
              </a:rPr>
              <a:t>She became a therapist</a:t>
            </a:r>
            <a:endParaRPr lang="en-US" sz="3900" dirty="0"/>
          </a:p>
          <a:p>
            <a:pPr algn="l" indent="0" marL="0">
              <a:buNone/>
            </a:pPr>
            <a:r>
              <a:rPr lang="en-US" sz="3900" b="1" dirty="0">
                <a:solidFill>
                  <a:srgbClr val="143D32"/>
                </a:solidFill>
                <a:latin typeface="Cambria" pitchFamily="34" charset="0"/>
                <a:ea typeface="Cambria" pitchFamily="34" charset="-122"/>
                <a:cs typeface="Cambria" pitchFamily="34" charset="-120"/>
              </a:rPr>
              <a:t>to help people.</a:t>
            </a:r>
            <a:endParaRPr lang="en-US" sz="3900" dirty="0"/>
          </a:p>
        </p:txBody>
      </p:sp>
      <p:sp>
        <p:nvSpPr>
          <p:cNvPr id="4" name="Text 2"/>
          <p:cNvSpPr/>
          <p:nvPr/>
        </p:nvSpPr>
        <p:spPr>
          <a:xfrm>
            <a:off x="694944" y="2615184"/>
            <a:ext cx="5760720" cy="438912"/>
          </a:xfrm>
          <a:prstGeom prst="rect">
            <a:avLst/>
          </a:prstGeom>
          <a:noFill/>
          <a:ln/>
        </p:spPr>
        <p:txBody>
          <a:bodyPr wrap="square" lIns="0" tIns="0" rIns="0" bIns="0" rtlCol="0" anchor="ctr">
            <a:normAutofit/>
          </a:bodyPr>
          <a:lstStyle/>
          <a:p>
            <a:pPr algn="l" indent="0" marL="0">
              <a:buNone/>
            </a:pPr>
            <a:r>
              <a:rPr lang="en-US" sz="2100" dirty="0">
                <a:solidFill>
                  <a:srgbClr val="60766D"/>
                </a:solidFill>
                <a:latin typeface="Arial" pitchFamily="34" charset="0"/>
                <a:ea typeface="Arial" pitchFamily="34" charset="-122"/>
                <a:cs typeface="Arial" pitchFamily="34" charset="-120"/>
              </a:rPr>
              <a:t>Paperwork is getting in the way.</a:t>
            </a:r>
            <a:endParaRPr lang="en-US" sz="2100" dirty="0"/>
          </a:p>
        </p:txBody>
      </p:sp>
      <p:sp>
        <p:nvSpPr>
          <p:cNvPr id="5" name="Shape 3"/>
          <p:cNvSpPr/>
          <p:nvPr/>
        </p:nvSpPr>
        <p:spPr>
          <a:xfrm>
            <a:off x="7498080" y="868680"/>
            <a:ext cx="3977640" cy="3429000"/>
          </a:xfrm>
          <a:prstGeom prst="roundRect">
            <a:avLst>
              <a:gd name="adj" fmla="val 4267"/>
            </a:avLst>
          </a:prstGeom>
          <a:solidFill>
            <a:srgbClr val="F1F7F3"/>
          </a:solidFill>
          <a:ln w="12700">
            <a:solidFill>
              <a:srgbClr val="F1F7F3">
                <a:alpha val="0"/>
              </a:srgbClr>
            </a:solidFill>
            <a:prstDash val="solid"/>
          </a:ln>
        </p:spPr>
      </p:sp>
      <p:sp>
        <p:nvSpPr>
          <p:cNvPr id="6" name="Shape 4"/>
          <p:cNvSpPr/>
          <p:nvPr/>
        </p:nvSpPr>
        <p:spPr>
          <a:xfrm>
            <a:off x="10012680" y="1170432"/>
            <a:ext cx="713232" cy="713232"/>
          </a:xfrm>
          <a:prstGeom prst="ellipse">
            <a:avLst/>
          </a:prstGeom>
          <a:solidFill>
            <a:srgbClr val="EAF4EE"/>
          </a:solidFill>
          <a:ln w="12700">
            <a:solidFill>
              <a:srgbClr val="EAF4EE"/>
            </a:solidFill>
            <a:prstDash val="solid"/>
          </a:ln>
        </p:spPr>
      </p:sp>
      <p:sp>
        <p:nvSpPr>
          <p:cNvPr id="7" name="Shape 5"/>
          <p:cNvSpPr/>
          <p:nvPr/>
        </p:nvSpPr>
        <p:spPr>
          <a:xfrm>
            <a:off x="10222992" y="1965960"/>
            <a:ext cx="713232" cy="1691640"/>
          </a:xfrm>
          <a:prstGeom prst="roundRect">
            <a:avLst>
              <a:gd name="adj" fmla="val 7692"/>
            </a:avLst>
          </a:prstGeom>
          <a:solidFill>
            <a:srgbClr val="FFFFFF"/>
          </a:solidFill>
          <a:ln w="15240">
            <a:solidFill>
              <a:srgbClr val="A9C9B8"/>
            </a:solidFill>
            <a:prstDash val="solid"/>
          </a:ln>
        </p:spPr>
      </p:sp>
      <p:sp>
        <p:nvSpPr>
          <p:cNvPr id="8" name="Shape 6"/>
          <p:cNvSpPr/>
          <p:nvPr/>
        </p:nvSpPr>
        <p:spPr>
          <a:xfrm>
            <a:off x="10442448" y="2194560"/>
            <a:ext cx="137160" cy="1417320"/>
          </a:xfrm>
          <a:prstGeom prst="roundRect">
            <a:avLst>
              <a:gd name="adj" fmla="val 13333"/>
            </a:avLst>
          </a:prstGeom>
          <a:solidFill>
            <a:srgbClr val="DDEFE6"/>
          </a:solidFill>
          <a:ln w="12700">
            <a:solidFill>
              <a:srgbClr val="DDEFE6">
                <a:alpha val="0"/>
              </a:srgbClr>
            </a:solidFill>
            <a:prstDash val="solid"/>
          </a:ln>
        </p:spPr>
      </p:sp>
      <p:sp>
        <p:nvSpPr>
          <p:cNvPr id="9" name="Shape 7"/>
          <p:cNvSpPr/>
          <p:nvPr/>
        </p:nvSpPr>
        <p:spPr>
          <a:xfrm>
            <a:off x="9253728" y="1901952"/>
            <a:ext cx="384048" cy="384048"/>
          </a:xfrm>
          <a:prstGeom prst="ellipse">
            <a:avLst/>
          </a:prstGeom>
          <a:solidFill>
            <a:srgbClr val="235947"/>
          </a:solidFill>
          <a:ln w="12700">
            <a:solidFill>
              <a:srgbClr val="235947"/>
            </a:solidFill>
            <a:prstDash val="solid"/>
          </a:ln>
        </p:spPr>
      </p:sp>
      <p:sp>
        <p:nvSpPr>
          <p:cNvPr id="10" name="Shape 8"/>
          <p:cNvSpPr/>
          <p:nvPr/>
        </p:nvSpPr>
        <p:spPr>
          <a:xfrm>
            <a:off x="9939528" y="1965960"/>
            <a:ext cx="347472" cy="347472"/>
          </a:xfrm>
          <a:prstGeom prst="ellipse">
            <a:avLst/>
          </a:prstGeom>
          <a:solidFill>
            <a:srgbClr val="D89979"/>
          </a:solidFill>
          <a:ln w="12700">
            <a:solidFill>
              <a:srgbClr val="D89979"/>
            </a:solidFill>
            <a:prstDash val="solid"/>
          </a:ln>
        </p:spPr>
      </p:sp>
      <p:sp>
        <p:nvSpPr>
          <p:cNvPr id="11" name="Shape 9"/>
          <p:cNvSpPr/>
          <p:nvPr/>
        </p:nvSpPr>
        <p:spPr>
          <a:xfrm>
            <a:off x="9070848" y="2212848"/>
            <a:ext cx="758952" cy="731520"/>
          </a:xfrm>
          <a:prstGeom prst="arc">
            <a:avLst>
              <a:gd name="adj1" fmla="val 10800000"/>
              <a:gd name="adj2" fmla="val 0"/>
            </a:avLst>
          </a:prstGeom>
          <a:solidFill>
            <a:srgbClr val="FFFFFF">
              <a:alpha val="0"/>
            </a:srgbClr>
          </a:solidFill>
          <a:ln w="63500">
            <a:solidFill>
              <a:srgbClr val="235947"/>
            </a:solidFill>
            <a:prstDash val="solid"/>
          </a:ln>
        </p:spPr>
      </p:sp>
      <p:sp>
        <p:nvSpPr>
          <p:cNvPr id="12" name="Shape 10"/>
          <p:cNvSpPr/>
          <p:nvPr/>
        </p:nvSpPr>
        <p:spPr>
          <a:xfrm>
            <a:off x="9811512" y="2267712"/>
            <a:ext cx="704088" cy="667512"/>
          </a:xfrm>
          <a:prstGeom prst="arc">
            <a:avLst>
              <a:gd name="adj1" fmla="val 10800000"/>
              <a:gd name="adj2" fmla="val 0"/>
            </a:avLst>
          </a:prstGeom>
          <a:solidFill>
            <a:srgbClr val="FFFFFF">
              <a:alpha val="0"/>
            </a:srgbClr>
          </a:solidFill>
          <a:ln w="63500">
            <a:solidFill>
              <a:srgbClr val="D89979"/>
            </a:solidFill>
            <a:prstDash val="solid"/>
          </a:ln>
        </p:spPr>
      </p:sp>
      <p:sp>
        <p:nvSpPr>
          <p:cNvPr id="13" name="Shape 11"/>
          <p:cNvSpPr/>
          <p:nvPr/>
        </p:nvSpPr>
        <p:spPr>
          <a:xfrm>
            <a:off x="7882128" y="3685032"/>
            <a:ext cx="2816352" cy="0"/>
          </a:xfrm>
          <a:prstGeom prst="line">
            <a:avLst/>
          </a:prstGeom>
          <a:noFill/>
          <a:ln w="25400">
            <a:solidFill>
              <a:srgbClr val="A9C9B8"/>
            </a:solidFill>
            <a:prstDash val="dash"/>
            <a:headEnd type="none"/>
            <a:tailEnd type="none"/>
          </a:ln>
        </p:spPr>
      </p:sp>
      <p:sp>
        <p:nvSpPr>
          <p:cNvPr id="14" name="Shape 12"/>
          <p:cNvSpPr/>
          <p:nvPr/>
        </p:nvSpPr>
        <p:spPr>
          <a:xfrm rot="-420000">
            <a:off x="7818120" y="2761488"/>
            <a:ext cx="795528" cy="941832"/>
          </a:xfrm>
          <a:prstGeom prst="rect">
            <a:avLst/>
          </a:prstGeom>
          <a:solidFill>
            <a:srgbClr val="F7FAF8"/>
          </a:solidFill>
          <a:ln w="12700">
            <a:solidFill>
              <a:srgbClr val="BCD0C5"/>
            </a:solidFill>
            <a:prstDash val="solid"/>
          </a:ln>
        </p:spPr>
      </p:sp>
      <p:sp>
        <p:nvSpPr>
          <p:cNvPr id="15" name="Shape 13"/>
          <p:cNvSpPr/>
          <p:nvPr/>
        </p:nvSpPr>
        <p:spPr>
          <a:xfrm>
            <a:off x="7955280" y="3017520"/>
            <a:ext cx="457200" cy="0"/>
          </a:xfrm>
          <a:prstGeom prst="line">
            <a:avLst/>
          </a:prstGeom>
          <a:noFill/>
          <a:ln w="12700">
            <a:solidFill>
              <a:srgbClr val="A9C9B8"/>
            </a:solidFill>
            <a:prstDash val="solid"/>
            <a:headEnd type="none"/>
            <a:tailEnd type="none"/>
          </a:ln>
        </p:spPr>
      </p:sp>
      <p:sp>
        <p:nvSpPr>
          <p:cNvPr id="16" name="Shape 14"/>
          <p:cNvSpPr/>
          <p:nvPr/>
        </p:nvSpPr>
        <p:spPr>
          <a:xfrm>
            <a:off x="7955280" y="3154680"/>
            <a:ext cx="502920" cy="0"/>
          </a:xfrm>
          <a:prstGeom prst="line">
            <a:avLst/>
          </a:prstGeom>
          <a:noFill/>
          <a:ln w="12700">
            <a:solidFill>
              <a:srgbClr val="A9C9B8"/>
            </a:solidFill>
            <a:prstDash val="solid"/>
            <a:headEnd type="none"/>
            <a:tailEnd type="none"/>
          </a:ln>
        </p:spPr>
      </p:sp>
      <p:sp>
        <p:nvSpPr>
          <p:cNvPr id="17" name="Shape 15"/>
          <p:cNvSpPr/>
          <p:nvPr/>
        </p:nvSpPr>
        <p:spPr>
          <a:xfrm>
            <a:off x="7955280" y="3291840"/>
            <a:ext cx="365760" cy="0"/>
          </a:xfrm>
          <a:prstGeom prst="line">
            <a:avLst/>
          </a:prstGeom>
          <a:noFill/>
          <a:ln w="12700">
            <a:solidFill>
              <a:srgbClr val="A9C9B8"/>
            </a:solidFill>
            <a:prstDash val="solid"/>
            <a:headEnd type="none"/>
            <a:tailEnd type="none"/>
          </a:ln>
        </p:spPr>
      </p:sp>
      <p:sp>
        <p:nvSpPr>
          <p:cNvPr id="18" name="Shape 16"/>
          <p:cNvSpPr/>
          <p:nvPr/>
        </p:nvSpPr>
        <p:spPr>
          <a:xfrm rot="240000">
            <a:off x="8165592" y="2660904"/>
            <a:ext cx="795528" cy="941832"/>
          </a:xfrm>
          <a:prstGeom prst="rect">
            <a:avLst/>
          </a:prstGeom>
          <a:solidFill>
            <a:srgbClr val="FFFFFF"/>
          </a:solidFill>
          <a:ln w="12700">
            <a:solidFill>
              <a:srgbClr val="BCD0C5"/>
            </a:solidFill>
            <a:prstDash val="solid"/>
          </a:ln>
        </p:spPr>
      </p:sp>
      <p:sp>
        <p:nvSpPr>
          <p:cNvPr id="19" name="Shape 17"/>
          <p:cNvSpPr/>
          <p:nvPr/>
        </p:nvSpPr>
        <p:spPr>
          <a:xfrm>
            <a:off x="8302752" y="2916936"/>
            <a:ext cx="457200" cy="0"/>
          </a:xfrm>
          <a:prstGeom prst="line">
            <a:avLst/>
          </a:prstGeom>
          <a:noFill/>
          <a:ln w="12700">
            <a:solidFill>
              <a:srgbClr val="A9C9B8"/>
            </a:solidFill>
            <a:prstDash val="solid"/>
            <a:headEnd type="none"/>
            <a:tailEnd type="none"/>
          </a:ln>
        </p:spPr>
      </p:sp>
      <p:sp>
        <p:nvSpPr>
          <p:cNvPr id="20" name="Shape 18"/>
          <p:cNvSpPr/>
          <p:nvPr/>
        </p:nvSpPr>
        <p:spPr>
          <a:xfrm>
            <a:off x="8302752" y="3054096"/>
            <a:ext cx="502920" cy="0"/>
          </a:xfrm>
          <a:prstGeom prst="line">
            <a:avLst/>
          </a:prstGeom>
          <a:noFill/>
          <a:ln w="12700">
            <a:solidFill>
              <a:srgbClr val="A9C9B8"/>
            </a:solidFill>
            <a:prstDash val="solid"/>
            <a:headEnd type="none"/>
            <a:tailEnd type="none"/>
          </a:ln>
        </p:spPr>
      </p:sp>
      <p:sp>
        <p:nvSpPr>
          <p:cNvPr id="21" name="Shape 19"/>
          <p:cNvSpPr/>
          <p:nvPr/>
        </p:nvSpPr>
        <p:spPr>
          <a:xfrm>
            <a:off x="8302752" y="3191256"/>
            <a:ext cx="365760" cy="0"/>
          </a:xfrm>
          <a:prstGeom prst="line">
            <a:avLst/>
          </a:prstGeom>
          <a:noFill/>
          <a:ln w="12700">
            <a:solidFill>
              <a:srgbClr val="A9C9B8"/>
            </a:solidFill>
            <a:prstDash val="solid"/>
            <a:headEnd type="none"/>
            <a:tailEnd type="none"/>
          </a:ln>
        </p:spPr>
      </p:sp>
      <p:sp>
        <p:nvSpPr>
          <p:cNvPr id="22" name="Shape 20"/>
          <p:cNvSpPr/>
          <p:nvPr/>
        </p:nvSpPr>
        <p:spPr>
          <a:xfrm rot="480000">
            <a:off x="8485632" y="2871216"/>
            <a:ext cx="795528" cy="941832"/>
          </a:xfrm>
          <a:prstGeom prst="rect">
            <a:avLst/>
          </a:prstGeom>
          <a:solidFill>
            <a:srgbClr val="F7FAF8"/>
          </a:solidFill>
          <a:ln w="12700">
            <a:solidFill>
              <a:srgbClr val="BCD0C5"/>
            </a:solidFill>
            <a:prstDash val="solid"/>
          </a:ln>
        </p:spPr>
      </p:sp>
      <p:sp>
        <p:nvSpPr>
          <p:cNvPr id="23" name="Shape 21"/>
          <p:cNvSpPr/>
          <p:nvPr/>
        </p:nvSpPr>
        <p:spPr>
          <a:xfrm>
            <a:off x="8622792" y="3127248"/>
            <a:ext cx="457200" cy="0"/>
          </a:xfrm>
          <a:prstGeom prst="line">
            <a:avLst/>
          </a:prstGeom>
          <a:noFill/>
          <a:ln w="12700">
            <a:solidFill>
              <a:srgbClr val="A9C9B8"/>
            </a:solidFill>
            <a:prstDash val="solid"/>
            <a:headEnd type="none"/>
            <a:tailEnd type="none"/>
          </a:ln>
        </p:spPr>
      </p:sp>
      <p:sp>
        <p:nvSpPr>
          <p:cNvPr id="24" name="Shape 22"/>
          <p:cNvSpPr/>
          <p:nvPr/>
        </p:nvSpPr>
        <p:spPr>
          <a:xfrm>
            <a:off x="8622792" y="3264408"/>
            <a:ext cx="502920" cy="0"/>
          </a:xfrm>
          <a:prstGeom prst="line">
            <a:avLst/>
          </a:prstGeom>
          <a:noFill/>
          <a:ln w="12700">
            <a:solidFill>
              <a:srgbClr val="A9C9B8"/>
            </a:solidFill>
            <a:prstDash val="solid"/>
            <a:headEnd type="none"/>
            <a:tailEnd type="none"/>
          </a:ln>
        </p:spPr>
      </p:sp>
      <p:sp>
        <p:nvSpPr>
          <p:cNvPr id="25" name="Shape 23"/>
          <p:cNvSpPr/>
          <p:nvPr/>
        </p:nvSpPr>
        <p:spPr>
          <a:xfrm>
            <a:off x="8622792" y="3401568"/>
            <a:ext cx="365760" cy="0"/>
          </a:xfrm>
          <a:prstGeom prst="line">
            <a:avLst/>
          </a:prstGeom>
          <a:noFill/>
          <a:ln w="12700">
            <a:solidFill>
              <a:srgbClr val="A9C9B8"/>
            </a:solidFill>
            <a:prstDash val="solid"/>
            <a:headEnd type="none"/>
            <a:tailEnd type="none"/>
          </a:ln>
        </p:spPr>
      </p:sp>
      <p:sp>
        <p:nvSpPr>
          <p:cNvPr id="26" name="Text 24"/>
          <p:cNvSpPr/>
          <p:nvPr/>
        </p:nvSpPr>
        <p:spPr>
          <a:xfrm>
            <a:off x="7744968" y="3822192"/>
            <a:ext cx="1554480" cy="219456"/>
          </a:xfrm>
          <a:prstGeom prst="rect">
            <a:avLst/>
          </a:prstGeom>
          <a:noFill/>
          <a:ln/>
        </p:spPr>
        <p:txBody>
          <a:bodyPr wrap="square" lIns="0" tIns="0" rIns="0" bIns="0" rtlCol="0" anchor="ctr">
            <a:normAutofit/>
          </a:bodyPr>
          <a:lstStyle/>
          <a:p>
            <a:pPr algn="ctr" indent="0" marL="0">
              <a:buNone/>
            </a:pPr>
            <a:r>
              <a:rPr lang="en-US" sz="1000" b="1" spc="140" kern="0" dirty="0">
                <a:solidFill>
                  <a:srgbClr val="60766D"/>
                </a:solidFill>
                <a:latin typeface="Arial" pitchFamily="34" charset="0"/>
                <a:ea typeface="Arial" pitchFamily="34" charset="-122"/>
                <a:cs typeface="Arial" pitchFamily="34" charset="-120"/>
              </a:rPr>
              <a:t>NOTES</a:t>
            </a:r>
            <a:endParaRPr lang="en-US" sz="1000" dirty="0"/>
          </a:p>
        </p:txBody>
      </p:sp>
      <p:sp>
        <p:nvSpPr>
          <p:cNvPr id="27" name="Text 25"/>
          <p:cNvSpPr/>
          <p:nvPr/>
        </p:nvSpPr>
        <p:spPr>
          <a:xfrm>
            <a:off x="694944" y="4828032"/>
            <a:ext cx="9052560" cy="457200"/>
          </a:xfrm>
          <a:prstGeom prst="rect">
            <a:avLst/>
          </a:prstGeom>
          <a:noFill/>
          <a:ln/>
        </p:spPr>
        <p:txBody>
          <a:bodyPr wrap="square" lIns="0" tIns="0" rIns="0" bIns="0" rtlCol="0" anchor="ctr">
            <a:normAutofit/>
          </a:bodyPr>
          <a:lstStyle/>
          <a:p>
            <a:pPr algn="l" indent="0" marL="0">
              <a:buNone/>
            </a:pPr>
            <a:r>
              <a:rPr lang="en-US" sz="2100" i="1" dirty="0">
                <a:solidFill>
                  <a:srgbClr val="235947"/>
                </a:solidFill>
                <a:latin typeface="Cambria" pitchFamily="34" charset="0"/>
                <a:ea typeface="Cambria" pitchFamily="34" charset="-122"/>
                <a:cs typeface="Cambria" pitchFamily="34" charset="-120"/>
              </a:rPr>
              <a:t>The work she loves is on the other side of the paperwork.</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566928"/>
            <a:ext cx="2743200" cy="256032"/>
          </a:xfrm>
          <a:prstGeom prst="rect">
            <a:avLst/>
          </a:prstGeom>
          <a:noFill/>
          <a:ln/>
        </p:spPr>
        <p:txBody>
          <a:bodyPr wrap="square" lIns="0" tIns="0" rIns="0" bIns="0" rtlCol="0" anchor="ctr">
            <a:normAutofit/>
          </a:bodyPr>
          <a:lstStyle/>
          <a:p>
            <a:pPr algn="l" indent="0" marL="0">
              <a:buNone/>
            </a:pPr>
            <a:r>
              <a:rPr lang="en-US" sz="1100" b="1" spc="170" kern="0" dirty="0">
                <a:solidFill>
                  <a:srgbClr val="235947"/>
                </a:solidFill>
                <a:latin typeface="Arial" pitchFamily="34" charset="0"/>
                <a:ea typeface="Arial" pitchFamily="34" charset="-122"/>
                <a:cs typeface="Arial" pitchFamily="34" charset="-120"/>
              </a:rPr>
              <a:t>PRIVACY</a:t>
            </a:r>
            <a:endParaRPr lang="en-US" sz="1100" dirty="0"/>
          </a:p>
        </p:txBody>
      </p:sp>
      <p:sp>
        <p:nvSpPr>
          <p:cNvPr id="3" name="Text 1"/>
          <p:cNvSpPr/>
          <p:nvPr/>
        </p:nvSpPr>
        <p:spPr>
          <a:xfrm>
            <a:off x="658368" y="914400"/>
            <a:ext cx="7406640" cy="1325880"/>
          </a:xfrm>
          <a:prstGeom prst="rect">
            <a:avLst/>
          </a:prstGeom>
          <a:noFill/>
          <a:ln/>
        </p:spPr>
        <p:txBody>
          <a:bodyPr wrap="square" lIns="0" tIns="0" rIns="0" bIns="0" rtlCol="0" anchor="ctr">
            <a:normAutofit/>
          </a:bodyPr>
          <a:lstStyle/>
          <a:p>
            <a:pPr algn="l" indent="0" marL="0">
              <a:buNone/>
            </a:pPr>
            <a:r>
              <a:rPr lang="en-US" sz="3800" b="1" dirty="0">
                <a:solidFill>
                  <a:srgbClr val="143D32"/>
                </a:solidFill>
                <a:latin typeface="Cambria" pitchFamily="34" charset="0"/>
                <a:ea typeface="Cambria" pitchFamily="34" charset="-122"/>
                <a:cs typeface="Cambria" pitchFamily="34" charset="-120"/>
              </a:rPr>
              <a:t>AI could help. Confidentiality</a:t>
            </a:r>
            <a:endParaRPr lang="en-US" sz="3800" dirty="0"/>
          </a:p>
          <a:p>
            <a:pPr algn="l" indent="0" marL="0">
              <a:buNone/>
            </a:pPr>
            <a:r>
              <a:rPr lang="en-US" sz="3800" b="1" dirty="0">
                <a:solidFill>
                  <a:srgbClr val="143D32"/>
                </a:solidFill>
                <a:latin typeface="Cambria" pitchFamily="34" charset="0"/>
                <a:ea typeface="Cambria" pitchFamily="34" charset="-122"/>
                <a:cs typeface="Cambria" pitchFamily="34" charset="-120"/>
              </a:rPr>
              <a:t>changes everything.</a:t>
            </a:r>
            <a:endParaRPr lang="en-US" sz="3800" dirty="0"/>
          </a:p>
        </p:txBody>
      </p:sp>
      <p:sp>
        <p:nvSpPr>
          <p:cNvPr id="4" name="Text 2"/>
          <p:cNvSpPr/>
          <p:nvPr/>
        </p:nvSpPr>
        <p:spPr>
          <a:xfrm>
            <a:off x="694944" y="2286000"/>
            <a:ext cx="7315200" cy="713232"/>
          </a:xfrm>
          <a:prstGeom prst="rect">
            <a:avLst/>
          </a:prstGeom>
          <a:noFill/>
          <a:ln/>
        </p:spPr>
        <p:txBody>
          <a:bodyPr wrap="square" lIns="0" tIns="0" rIns="0" bIns="0" rtlCol="0" anchor="ctr">
            <a:normAutofit/>
          </a:bodyPr>
          <a:lstStyle/>
          <a:p>
            <a:pPr algn="l" indent="0" marL="0">
              <a:buNone/>
            </a:pPr>
            <a:r>
              <a:rPr lang="en-US" sz="2000" dirty="0">
                <a:solidFill>
                  <a:srgbClr val="60766D"/>
                </a:solidFill>
                <a:latin typeface="Arial" pitchFamily="34" charset="0"/>
                <a:ea typeface="Arial" pitchFamily="34" charset="-122"/>
                <a:cs typeface="Arial" pitchFamily="34" charset="-120"/>
              </a:rPr>
              <a:t>AI-using small businesses name trust and reliability as real concerns.</a:t>
            </a:r>
            <a:endParaRPr lang="en-US" sz="2000" dirty="0"/>
          </a:p>
        </p:txBody>
      </p:sp>
      <p:sp>
        <p:nvSpPr>
          <p:cNvPr id="5" name="Text 3"/>
          <p:cNvSpPr/>
          <p:nvPr/>
        </p:nvSpPr>
        <p:spPr>
          <a:xfrm>
            <a:off x="713232" y="3127248"/>
            <a:ext cx="420624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60766D"/>
                </a:solidFill>
                <a:latin typeface="Arial" pitchFamily="34" charset="0"/>
                <a:ea typeface="Arial" pitchFamily="34" charset="-122"/>
                <a:cs typeface="Arial" pitchFamily="34" charset="-120"/>
              </a:rPr>
              <a:t>AI-RELATED CONCERNS</a:t>
            </a:r>
            <a:endParaRPr lang="en-US" sz="1000" dirty="0"/>
          </a:p>
        </p:txBody>
      </p:sp>
      <p:sp>
        <p:nvSpPr>
          <p:cNvPr id="6" name="Text 4"/>
          <p:cNvSpPr/>
          <p:nvPr/>
        </p:nvSpPr>
        <p:spPr>
          <a:xfrm>
            <a:off x="713232" y="3584448"/>
            <a:ext cx="2834640" cy="274320"/>
          </a:xfrm>
          <a:prstGeom prst="rect">
            <a:avLst/>
          </a:prstGeom>
          <a:noFill/>
          <a:ln/>
        </p:spPr>
        <p:txBody>
          <a:bodyPr wrap="square" lIns="0" tIns="0" rIns="0" bIns="0" rtlCol="0" anchor="ctr">
            <a:normAutofit/>
          </a:bodyPr>
          <a:lstStyle/>
          <a:p>
            <a:pPr algn="l" indent="0" marL="0">
              <a:buNone/>
            </a:pPr>
            <a:r>
              <a:rPr lang="en-US" sz="1600" b="1" dirty="0">
                <a:solidFill>
                  <a:srgbClr val="1E332B"/>
                </a:solidFill>
                <a:latin typeface="Arial" pitchFamily="34" charset="0"/>
                <a:ea typeface="Arial" pitchFamily="34" charset="-122"/>
                <a:cs typeface="Arial" pitchFamily="34" charset="-120"/>
              </a:rPr>
              <a:t>Reliability &amp; accuracy</a:t>
            </a:r>
            <a:endParaRPr lang="en-US" sz="1600" dirty="0"/>
          </a:p>
        </p:txBody>
      </p:sp>
      <p:sp>
        <p:nvSpPr>
          <p:cNvPr id="7" name="Shape 5"/>
          <p:cNvSpPr/>
          <p:nvPr/>
        </p:nvSpPr>
        <p:spPr>
          <a:xfrm>
            <a:off x="3639312" y="3602736"/>
            <a:ext cx="2880360" cy="219456"/>
          </a:xfrm>
          <a:prstGeom prst="roundRect">
            <a:avLst>
              <a:gd name="adj" fmla="val 41667"/>
            </a:avLst>
          </a:prstGeom>
          <a:solidFill>
            <a:srgbClr val="E5EFEA"/>
          </a:solidFill>
          <a:ln w="12700">
            <a:solidFill>
              <a:srgbClr val="E5EFEA">
                <a:alpha val="0"/>
              </a:srgbClr>
            </a:solidFill>
            <a:prstDash val="solid"/>
          </a:ln>
        </p:spPr>
      </p:sp>
      <p:sp>
        <p:nvSpPr>
          <p:cNvPr id="8" name="Shape 6"/>
          <p:cNvSpPr/>
          <p:nvPr/>
        </p:nvSpPr>
        <p:spPr>
          <a:xfrm>
            <a:off x="3639312" y="3602736"/>
            <a:ext cx="1296162" cy="219456"/>
          </a:xfrm>
          <a:prstGeom prst="roundRect">
            <a:avLst>
              <a:gd name="adj" fmla="val 41667"/>
            </a:avLst>
          </a:prstGeom>
          <a:solidFill>
            <a:srgbClr val="A9C9B8"/>
          </a:solidFill>
          <a:ln w="12700">
            <a:solidFill>
              <a:srgbClr val="A9C9B8">
                <a:alpha val="0"/>
              </a:srgbClr>
            </a:solidFill>
            <a:prstDash val="solid"/>
          </a:ln>
        </p:spPr>
      </p:sp>
      <p:sp>
        <p:nvSpPr>
          <p:cNvPr id="9" name="Text 7"/>
          <p:cNvSpPr/>
          <p:nvPr/>
        </p:nvSpPr>
        <p:spPr>
          <a:xfrm>
            <a:off x="6693408" y="3456432"/>
            <a:ext cx="1051560" cy="475488"/>
          </a:xfrm>
          <a:prstGeom prst="rect">
            <a:avLst/>
          </a:prstGeom>
          <a:noFill/>
          <a:ln/>
        </p:spPr>
        <p:txBody>
          <a:bodyPr wrap="square" lIns="0" tIns="0" rIns="0" bIns="0" rtlCol="0" anchor="ctr">
            <a:normAutofit/>
          </a:bodyPr>
          <a:lstStyle/>
          <a:p>
            <a:pPr algn="l" indent="0" marL="0">
              <a:buNone/>
            </a:pPr>
            <a:r>
              <a:rPr lang="en-US" sz="2700" b="1" dirty="0">
                <a:solidFill>
                  <a:srgbClr val="235947"/>
                </a:solidFill>
                <a:latin typeface="Arial" pitchFamily="34" charset="0"/>
                <a:ea typeface="Arial" pitchFamily="34" charset="-122"/>
                <a:cs typeface="Arial" pitchFamily="34" charset="-120"/>
              </a:rPr>
              <a:t>45%</a:t>
            </a:r>
            <a:endParaRPr lang="en-US" sz="2700" dirty="0"/>
          </a:p>
        </p:txBody>
      </p:sp>
      <p:sp>
        <p:nvSpPr>
          <p:cNvPr id="10" name="Text 8"/>
          <p:cNvSpPr/>
          <p:nvPr/>
        </p:nvSpPr>
        <p:spPr>
          <a:xfrm>
            <a:off x="713232" y="4315968"/>
            <a:ext cx="2834640" cy="310896"/>
          </a:xfrm>
          <a:prstGeom prst="rect">
            <a:avLst/>
          </a:prstGeom>
          <a:noFill/>
          <a:ln/>
        </p:spPr>
        <p:txBody>
          <a:bodyPr wrap="square" lIns="0" tIns="0" rIns="0" bIns="0" rtlCol="0" anchor="ctr">
            <a:normAutofit/>
          </a:bodyPr>
          <a:lstStyle/>
          <a:p>
            <a:pPr algn="l" indent="0" marL="0">
              <a:buNone/>
            </a:pPr>
            <a:r>
              <a:rPr lang="en-US" sz="1550" b="1" dirty="0">
                <a:solidFill>
                  <a:srgbClr val="1E332B"/>
                </a:solidFill>
                <a:latin typeface="Arial" pitchFamily="34" charset="0"/>
                <a:ea typeface="Arial" pitchFamily="34" charset="-122"/>
                <a:cs typeface="Arial" pitchFamily="34" charset="-120"/>
              </a:rPr>
              <a:t>Data security &amp; privacy</a:t>
            </a:r>
            <a:endParaRPr lang="en-US" sz="1550" dirty="0"/>
          </a:p>
        </p:txBody>
      </p:sp>
      <p:sp>
        <p:nvSpPr>
          <p:cNvPr id="11" name="Shape 9"/>
          <p:cNvSpPr/>
          <p:nvPr/>
        </p:nvSpPr>
        <p:spPr>
          <a:xfrm>
            <a:off x="3639312" y="4361688"/>
            <a:ext cx="2880360" cy="219456"/>
          </a:xfrm>
          <a:prstGeom prst="roundRect">
            <a:avLst>
              <a:gd name="adj" fmla="val 41667"/>
            </a:avLst>
          </a:prstGeom>
          <a:solidFill>
            <a:srgbClr val="E5EFEA"/>
          </a:solidFill>
          <a:ln w="12700">
            <a:solidFill>
              <a:srgbClr val="E5EFEA">
                <a:alpha val="0"/>
              </a:srgbClr>
            </a:solidFill>
            <a:prstDash val="solid"/>
          </a:ln>
        </p:spPr>
      </p:sp>
      <p:sp>
        <p:nvSpPr>
          <p:cNvPr id="12" name="Shape 10"/>
          <p:cNvSpPr/>
          <p:nvPr/>
        </p:nvSpPr>
        <p:spPr>
          <a:xfrm>
            <a:off x="3639312" y="4361688"/>
            <a:ext cx="1209751" cy="219456"/>
          </a:xfrm>
          <a:prstGeom prst="roundRect">
            <a:avLst>
              <a:gd name="adj" fmla="val 41667"/>
            </a:avLst>
          </a:prstGeom>
          <a:solidFill>
            <a:srgbClr val="235947"/>
          </a:solidFill>
          <a:ln w="12700">
            <a:solidFill>
              <a:srgbClr val="235947">
                <a:alpha val="0"/>
              </a:srgbClr>
            </a:solidFill>
            <a:prstDash val="solid"/>
          </a:ln>
        </p:spPr>
      </p:sp>
      <p:sp>
        <p:nvSpPr>
          <p:cNvPr id="13" name="Text 11"/>
          <p:cNvSpPr/>
          <p:nvPr/>
        </p:nvSpPr>
        <p:spPr>
          <a:xfrm>
            <a:off x="6693408" y="4206240"/>
            <a:ext cx="1051560" cy="475488"/>
          </a:xfrm>
          <a:prstGeom prst="rect">
            <a:avLst/>
          </a:prstGeom>
          <a:noFill/>
          <a:ln/>
        </p:spPr>
        <p:txBody>
          <a:bodyPr wrap="square" lIns="0" tIns="0" rIns="0" bIns="0" rtlCol="0" anchor="ctr">
            <a:normAutofit/>
          </a:bodyPr>
          <a:lstStyle/>
          <a:p>
            <a:pPr algn="l" indent="0" marL="0">
              <a:buNone/>
            </a:pPr>
            <a:r>
              <a:rPr lang="en-US" sz="2700" b="1" dirty="0">
                <a:solidFill>
                  <a:srgbClr val="235947"/>
                </a:solidFill>
                <a:latin typeface="Arial" pitchFamily="34" charset="0"/>
                <a:ea typeface="Arial" pitchFamily="34" charset="-122"/>
                <a:cs typeface="Arial" pitchFamily="34" charset="-120"/>
              </a:rPr>
              <a:t>42%</a:t>
            </a:r>
            <a:endParaRPr lang="en-US" sz="2700" dirty="0"/>
          </a:p>
        </p:txBody>
      </p:sp>
      <p:sp>
        <p:nvSpPr>
          <p:cNvPr id="14" name="Shape 12"/>
          <p:cNvSpPr/>
          <p:nvPr/>
        </p:nvSpPr>
        <p:spPr>
          <a:xfrm>
            <a:off x="8092440" y="2468880"/>
            <a:ext cx="3429000" cy="2267712"/>
          </a:xfrm>
          <a:prstGeom prst="roundRect">
            <a:avLst>
              <a:gd name="adj" fmla="val 6452"/>
            </a:avLst>
          </a:prstGeom>
          <a:solidFill>
            <a:srgbClr val="143D32"/>
          </a:solidFill>
          <a:ln w="12700">
            <a:solidFill>
              <a:srgbClr val="143D32">
                <a:alpha val="0"/>
              </a:srgbClr>
            </a:solidFill>
            <a:prstDash val="solid"/>
          </a:ln>
        </p:spPr>
      </p:sp>
      <p:sp>
        <p:nvSpPr>
          <p:cNvPr id="15" name="Text 13"/>
          <p:cNvSpPr/>
          <p:nvPr/>
        </p:nvSpPr>
        <p:spPr>
          <a:xfrm>
            <a:off x="8366760" y="2697480"/>
            <a:ext cx="2926080" cy="960120"/>
          </a:xfrm>
          <a:prstGeom prst="rect">
            <a:avLst/>
          </a:prstGeom>
          <a:noFill/>
          <a:ln/>
        </p:spPr>
        <p:txBody>
          <a:bodyPr wrap="square" lIns="0" tIns="0" rIns="0" bIns="0" rtlCol="0" anchor="ctr">
            <a:normAutofit/>
          </a:bodyPr>
          <a:lstStyle/>
          <a:p>
            <a:pPr algn="l" indent="0" marL="0">
              <a:buNone/>
            </a:pPr>
            <a:r>
              <a:rPr lang="en-US" sz="2200" b="1" dirty="0">
                <a:solidFill>
                  <a:srgbClr val="FFFFFF"/>
                </a:solidFill>
                <a:latin typeface="Cambria" pitchFamily="34" charset="0"/>
                <a:ea typeface="Cambria" pitchFamily="34" charset="-122"/>
                <a:cs typeface="Cambria" pitchFamily="34" charset="-120"/>
              </a:rPr>
              <a:t>For therapy, privacy</a:t>
            </a:r>
            <a:endParaRPr lang="en-US" sz="2200" dirty="0"/>
          </a:p>
          <a:p>
            <a:pPr algn="l" indent="0" marL="0">
              <a:buNone/>
            </a:pPr>
            <a:r>
              <a:rPr lang="en-US" sz="2200" b="1" dirty="0">
                <a:solidFill>
                  <a:srgbClr val="FFFFFF"/>
                </a:solidFill>
                <a:latin typeface="Cambria" pitchFamily="34" charset="0"/>
                <a:ea typeface="Cambria" pitchFamily="34" charset="-122"/>
                <a:cs typeface="Cambria" pitchFamily="34" charset="-120"/>
              </a:rPr>
              <a:t>is a condition of care.</a:t>
            </a:r>
            <a:endParaRPr lang="en-US" sz="2200" dirty="0"/>
          </a:p>
        </p:txBody>
      </p:sp>
      <p:sp>
        <p:nvSpPr>
          <p:cNvPr id="16" name="Text 14"/>
          <p:cNvSpPr/>
          <p:nvPr/>
        </p:nvSpPr>
        <p:spPr>
          <a:xfrm>
            <a:off x="8366760" y="3794760"/>
            <a:ext cx="2926080" cy="685800"/>
          </a:xfrm>
          <a:prstGeom prst="rect">
            <a:avLst/>
          </a:prstGeom>
          <a:noFill/>
          <a:ln/>
        </p:spPr>
        <p:txBody>
          <a:bodyPr wrap="square" lIns="0" tIns="0" rIns="0" bIns="0" rtlCol="0" anchor="ctr">
            <a:normAutofit/>
          </a:bodyPr>
          <a:lstStyle/>
          <a:p>
            <a:pPr algn="l" indent="0" marL="0">
              <a:buNone/>
            </a:pPr>
            <a:r>
              <a:rPr lang="en-US" sz="1500" dirty="0">
                <a:solidFill>
                  <a:srgbClr val="DDEFE6"/>
                </a:solidFill>
                <a:latin typeface="Arial" pitchFamily="34" charset="0"/>
                <a:ea typeface="Arial" pitchFamily="34" charset="-122"/>
                <a:cs typeface="Arial" pitchFamily="34" charset="-120"/>
              </a:rPr>
              <a:t>Local processing keeps the session on the clinician’s terms.</a:t>
            </a:r>
            <a:endParaRPr lang="en-US" sz="1500" dirty="0"/>
          </a:p>
        </p:txBody>
      </p:sp>
      <p:sp>
        <p:nvSpPr>
          <p:cNvPr id="17" name="Text 15">
            <a:hlinkClick r:id="rId1" tooltip=""/>
          </p:cNvPr>
          <p:cNvSpPr/>
          <p:nvPr/>
        </p:nvSpPr>
        <p:spPr>
          <a:xfrm>
            <a:off x="713232" y="5175504"/>
            <a:ext cx="7406640" cy="201168"/>
          </a:xfrm>
          <a:prstGeom prst="rect">
            <a:avLst/>
          </a:prstGeom>
          <a:noFill/>
          <a:ln/>
        </p:spPr>
        <p:txBody>
          <a:bodyPr wrap="square" lIns="0" tIns="0" rIns="0" bIns="0" rtlCol="0" anchor="ctr">
            <a:normAutofit/>
          </a:bodyPr>
          <a:lstStyle/>
          <a:p>
            <a:pPr algn="l" indent="0" marL="0">
              <a:buNone/>
            </a:pPr>
            <a:r>
              <a:rPr lang="en-US" sz="1100" u="sng" dirty="0">
                <a:solidFill>
                  <a:srgbClr val="60766D"/>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SBE Council · Small Business Technology Use Survey (Mar 2026), p. 38</a:t>
            </a:r>
            <a:endParaRPr lang="en-US" sz="1100" dirty="0"/>
          </a:p>
        </p:txBody>
      </p:sp>
      <p:sp>
        <p:nvSpPr>
          <p:cNvPr id="18" name="Text 16"/>
          <p:cNvSpPr/>
          <p:nvPr/>
        </p:nvSpPr>
        <p:spPr>
          <a:xfrm>
            <a:off x="713232" y="5413248"/>
            <a:ext cx="8869680" cy="201168"/>
          </a:xfrm>
          <a:prstGeom prst="rect">
            <a:avLst/>
          </a:prstGeom>
          <a:noFill/>
          <a:ln/>
        </p:spPr>
        <p:txBody>
          <a:bodyPr wrap="square" lIns="0" tIns="0" rIns="0" bIns="0" rtlCol="0" anchor="ctr">
            <a:normAutofit/>
          </a:bodyPr>
          <a:lstStyle/>
          <a:p>
            <a:pPr algn="l" indent="0" marL="0">
              <a:buNone/>
            </a:pPr>
            <a:r>
              <a:rPr lang="en-US" sz="1000" dirty="0">
                <a:solidFill>
                  <a:srgbClr val="60766D"/>
                </a:solidFill>
                <a:latin typeface="Arial" pitchFamily="34" charset="0"/>
                <a:ea typeface="Arial" pitchFamily="34" charset="-122"/>
                <a:cs typeface="Arial" pitchFamily="34" charset="-120"/>
              </a:rPr>
              <a:t>Q20: n=425 AI-tool users; overall survey n=517 owners, 2–99 employees; Feb 17–23,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566928"/>
            <a:ext cx="2743200" cy="256032"/>
          </a:xfrm>
          <a:prstGeom prst="rect">
            <a:avLst/>
          </a:prstGeom>
          <a:noFill/>
          <a:ln/>
        </p:spPr>
        <p:txBody>
          <a:bodyPr wrap="square" lIns="0" tIns="0" rIns="0" bIns="0" rtlCol="0" anchor="ctr">
            <a:normAutofit/>
          </a:bodyPr>
          <a:lstStyle/>
          <a:p>
            <a:pPr algn="l" indent="0" marL="0">
              <a:buNone/>
            </a:pPr>
            <a:r>
              <a:rPr lang="en-US" sz="1100" b="1" spc="170" kern="0" dirty="0">
                <a:solidFill>
                  <a:srgbClr val="235947"/>
                </a:solidFill>
                <a:latin typeface="Arial" pitchFamily="34" charset="0"/>
                <a:ea typeface="Arial" pitchFamily="34" charset="-122"/>
                <a:cs typeface="Arial" pitchFamily="34" charset="-120"/>
              </a:rPr>
              <a:t>THE GAP</a:t>
            </a:r>
            <a:endParaRPr lang="en-US" sz="1100" dirty="0"/>
          </a:p>
        </p:txBody>
      </p:sp>
      <p:sp>
        <p:nvSpPr>
          <p:cNvPr id="3" name="Text 1"/>
          <p:cNvSpPr/>
          <p:nvPr/>
        </p:nvSpPr>
        <p:spPr>
          <a:xfrm>
            <a:off x="658368" y="914400"/>
            <a:ext cx="7863840" cy="1280160"/>
          </a:xfrm>
          <a:prstGeom prst="rect">
            <a:avLst/>
          </a:prstGeom>
          <a:noFill/>
          <a:ln/>
        </p:spPr>
        <p:txBody>
          <a:bodyPr wrap="square" lIns="0" tIns="0" rIns="0" bIns="0" rtlCol="0" anchor="ctr">
            <a:normAutofit/>
          </a:bodyPr>
          <a:lstStyle/>
          <a:p>
            <a:pPr algn="l" indent="0" marL="0">
              <a:buNone/>
            </a:pPr>
            <a:r>
              <a:rPr lang="en-US" sz="3800" b="1" dirty="0">
                <a:solidFill>
                  <a:srgbClr val="143D32"/>
                </a:solidFill>
                <a:latin typeface="Cambria" pitchFamily="34" charset="0"/>
                <a:ea typeface="Cambria" pitchFamily="34" charset="-122"/>
                <a:cs typeface="Cambria" pitchFamily="34" charset="-120"/>
              </a:rPr>
              <a:t>Local AI exists. Making it</a:t>
            </a:r>
            <a:endParaRPr lang="en-US" sz="3800" dirty="0"/>
          </a:p>
          <a:p>
            <a:pPr algn="l" indent="0" marL="0">
              <a:buNone/>
            </a:pPr>
            <a:r>
              <a:rPr lang="en-US" sz="3800" b="1" dirty="0">
                <a:solidFill>
                  <a:srgbClr val="143D32"/>
                </a:solidFill>
                <a:latin typeface="Cambria" pitchFamily="34" charset="0"/>
                <a:ea typeface="Cambria" pitchFamily="34" charset="-122"/>
                <a:cs typeface="Cambria" pitchFamily="34" charset="-120"/>
              </a:rPr>
              <a:t>useful is the gap.</a:t>
            </a:r>
            <a:endParaRPr lang="en-US" sz="3800" dirty="0"/>
          </a:p>
        </p:txBody>
      </p:sp>
      <p:sp>
        <p:nvSpPr>
          <p:cNvPr id="4" name="Text 2"/>
          <p:cNvSpPr/>
          <p:nvPr/>
        </p:nvSpPr>
        <p:spPr>
          <a:xfrm>
            <a:off x="694944" y="2286000"/>
            <a:ext cx="7955280" cy="713232"/>
          </a:xfrm>
          <a:prstGeom prst="rect">
            <a:avLst/>
          </a:prstGeom>
          <a:noFill/>
          <a:ln/>
        </p:spPr>
        <p:txBody>
          <a:bodyPr wrap="square" lIns="0" tIns="0" rIns="0" bIns="0" rtlCol="0" anchor="ctr">
            <a:normAutofit/>
          </a:bodyPr>
          <a:lstStyle/>
          <a:p>
            <a:pPr algn="l" indent="0" marL="0">
              <a:buNone/>
            </a:pPr>
            <a:r>
              <a:rPr lang="en-US" sz="2000" dirty="0">
                <a:solidFill>
                  <a:srgbClr val="60766D"/>
                </a:solidFill>
                <a:latin typeface="Arial" pitchFamily="34" charset="0"/>
                <a:ea typeface="Arial" pitchFamily="34" charset="-122"/>
                <a:cs typeface="Arial" pitchFamily="34" charset="-120"/>
              </a:rPr>
              <a:t>Scribular turns a private transcript into a draft note—and lets clinicians shape the result themselves.</a:t>
            </a:r>
            <a:endParaRPr lang="en-US" sz="2000" dirty="0"/>
          </a:p>
        </p:txBody>
      </p:sp>
      <p:sp>
        <p:nvSpPr>
          <p:cNvPr id="5" name="Shape 3"/>
          <p:cNvSpPr/>
          <p:nvPr/>
        </p:nvSpPr>
        <p:spPr>
          <a:xfrm>
            <a:off x="8732520" y="658368"/>
            <a:ext cx="2880360" cy="1170432"/>
          </a:xfrm>
          <a:prstGeom prst="roundRect">
            <a:avLst>
              <a:gd name="adj" fmla="val 14063"/>
            </a:avLst>
          </a:prstGeom>
          <a:solidFill>
            <a:srgbClr val="F1F7F3"/>
          </a:solidFill>
          <a:ln w="12700">
            <a:solidFill>
              <a:srgbClr val="F1F7F3">
                <a:alpha val="0"/>
              </a:srgbClr>
            </a:solidFill>
            <a:prstDash val="solid"/>
          </a:ln>
        </p:spPr>
      </p:sp>
      <p:sp>
        <p:nvSpPr>
          <p:cNvPr id="6" name="Shape 4"/>
          <p:cNvSpPr/>
          <p:nvPr/>
        </p:nvSpPr>
        <p:spPr>
          <a:xfrm>
            <a:off x="9006840" y="978408"/>
            <a:ext cx="384048" cy="384048"/>
          </a:xfrm>
          <a:prstGeom prst="ellipse">
            <a:avLst/>
          </a:prstGeom>
          <a:solidFill>
            <a:srgbClr val="235947"/>
          </a:solidFill>
          <a:ln w="12700">
            <a:solidFill>
              <a:srgbClr val="235947"/>
            </a:solidFill>
            <a:prstDash val="solid"/>
          </a:ln>
        </p:spPr>
      </p:sp>
      <p:sp>
        <p:nvSpPr>
          <p:cNvPr id="7" name="Text 5"/>
          <p:cNvSpPr/>
          <p:nvPr/>
        </p:nvSpPr>
        <p:spPr>
          <a:xfrm>
            <a:off x="9006840" y="978408"/>
            <a:ext cx="384048" cy="384048"/>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Cambria" pitchFamily="34" charset="0"/>
                <a:ea typeface="Cambria" pitchFamily="34" charset="-122"/>
                <a:cs typeface="Cambria" pitchFamily="34" charset="-120"/>
              </a:rPr>
              <a:t>S</a:t>
            </a:r>
            <a:endParaRPr lang="en-US" sz="2100" dirty="0"/>
          </a:p>
        </p:txBody>
      </p:sp>
      <p:sp>
        <p:nvSpPr>
          <p:cNvPr id="8" name="Text 6"/>
          <p:cNvSpPr/>
          <p:nvPr/>
        </p:nvSpPr>
        <p:spPr>
          <a:xfrm>
            <a:off x="9537192" y="859536"/>
            <a:ext cx="1965960" cy="329184"/>
          </a:xfrm>
          <a:prstGeom prst="rect">
            <a:avLst/>
          </a:prstGeom>
          <a:noFill/>
          <a:ln/>
        </p:spPr>
        <p:txBody>
          <a:bodyPr wrap="square" lIns="0" tIns="0" rIns="0" bIns="0" rtlCol="0" anchor="ctr">
            <a:normAutofit/>
          </a:bodyPr>
          <a:lstStyle/>
          <a:p>
            <a:pPr algn="l" indent="0" marL="0">
              <a:buNone/>
            </a:pPr>
            <a:r>
              <a:rPr lang="en-US" sz="2000" b="1" dirty="0">
                <a:solidFill>
                  <a:srgbClr val="143D32"/>
                </a:solidFill>
                <a:latin typeface="Cambria" pitchFamily="34" charset="0"/>
                <a:ea typeface="Cambria" pitchFamily="34" charset="-122"/>
                <a:cs typeface="Cambria" pitchFamily="34" charset="-120"/>
              </a:rPr>
              <a:t>Scribular</a:t>
            </a:r>
            <a:endParaRPr lang="en-US" sz="2000" dirty="0"/>
          </a:p>
        </p:txBody>
      </p:sp>
      <p:sp>
        <p:nvSpPr>
          <p:cNvPr id="9" name="Text 7"/>
          <p:cNvSpPr/>
          <p:nvPr/>
        </p:nvSpPr>
        <p:spPr>
          <a:xfrm>
            <a:off x="9537192" y="1243584"/>
            <a:ext cx="2011680" cy="237744"/>
          </a:xfrm>
          <a:prstGeom prst="rect">
            <a:avLst/>
          </a:prstGeom>
          <a:noFill/>
          <a:ln/>
        </p:spPr>
        <p:txBody>
          <a:bodyPr wrap="square" lIns="0" tIns="0" rIns="0" bIns="0" rtlCol="0" anchor="ctr">
            <a:normAutofit/>
          </a:bodyPr>
          <a:lstStyle/>
          <a:p>
            <a:pPr algn="l" indent="0" marL="0">
              <a:buNone/>
            </a:pPr>
            <a:r>
              <a:rPr lang="en-US" sz="1000" b="1" dirty="0">
                <a:solidFill>
                  <a:srgbClr val="60766D"/>
                </a:solidFill>
                <a:latin typeface="Arial" pitchFamily="34" charset="0"/>
                <a:ea typeface="Arial" pitchFamily="34" charset="-122"/>
                <a:cs typeface="Arial" pitchFamily="34" charset="-120"/>
              </a:rPr>
              <a:t>LOCAL AI · CLINICIAN-LED</a:t>
            </a:r>
            <a:endParaRPr lang="en-US" sz="1000" dirty="0"/>
          </a:p>
        </p:txBody>
      </p:sp>
      <p:sp>
        <p:nvSpPr>
          <p:cNvPr id="10" name="Shape 8"/>
          <p:cNvSpPr/>
          <p:nvPr/>
        </p:nvSpPr>
        <p:spPr>
          <a:xfrm>
            <a:off x="786384" y="4206240"/>
            <a:ext cx="10625328" cy="0"/>
          </a:xfrm>
          <a:prstGeom prst="line">
            <a:avLst/>
          </a:prstGeom>
          <a:noFill/>
          <a:ln w="15240">
            <a:solidFill>
              <a:srgbClr val="D9E9E0"/>
            </a:solidFill>
            <a:prstDash val="solid"/>
            <a:headEnd type="none"/>
            <a:tailEnd type="none"/>
          </a:ln>
        </p:spPr>
      </p:sp>
      <p:sp>
        <p:nvSpPr>
          <p:cNvPr id="11" name="Shape 9"/>
          <p:cNvSpPr/>
          <p:nvPr/>
        </p:nvSpPr>
        <p:spPr>
          <a:xfrm>
            <a:off x="749808" y="3566160"/>
            <a:ext cx="228600" cy="850392"/>
          </a:xfrm>
          <a:prstGeom prst="roundRect">
            <a:avLst>
              <a:gd name="adj" fmla="val 8000"/>
            </a:avLst>
          </a:prstGeom>
          <a:solidFill>
            <a:srgbClr val="235947"/>
          </a:solidFill>
          <a:ln w="12700">
            <a:solidFill>
              <a:srgbClr val="235947">
                <a:alpha val="0"/>
              </a:srgbClr>
            </a:solidFill>
            <a:prstDash val="solid"/>
          </a:ln>
        </p:spPr>
      </p:sp>
      <p:sp>
        <p:nvSpPr>
          <p:cNvPr id="12" name="Shape 10"/>
          <p:cNvSpPr/>
          <p:nvPr/>
        </p:nvSpPr>
        <p:spPr>
          <a:xfrm>
            <a:off x="11219688" y="3566160"/>
            <a:ext cx="228600" cy="850392"/>
          </a:xfrm>
          <a:prstGeom prst="roundRect">
            <a:avLst>
              <a:gd name="adj" fmla="val 8000"/>
            </a:avLst>
          </a:prstGeom>
          <a:solidFill>
            <a:srgbClr val="235947"/>
          </a:solidFill>
          <a:ln w="12700">
            <a:solidFill>
              <a:srgbClr val="235947">
                <a:alpha val="0"/>
              </a:srgbClr>
            </a:solidFill>
            <a:prstDash val="solid"/>
          </a:ln>
        </p:spPr>
      </p:sp>
      <p:sp>
        <p:nvSpPr>
          <p:cNvPr id="13" name="Shape 11"/>
          <p:cNvSpPr/>
          <p:nvPr/>
        </p:nvSpPr>
        <p:spPr>
          <a:xfrm>
            <a:off x="786384" y="3867912"/>
            <a:ext cx="2656332" cy="0"/>
          </a:xfrm>
          <a:prstGeom prst="line">
            <a:avLst/>
          </a:prstGeom>
          <a:noFill/>
          <a:ln w="101600">
            <a:solidFill>
              <a:srgbClr val="235947"/>
            </a:solidFill>
            <a:prstDash val="solid"/>
            <a:headEnd type="none"/>
            <a:tailEnd type="none"/>
          </a:ln>
        </p:spPr>
      </p:sp>
      <p:sp>
        <p:nvSpPr>
          <p:cNvPr id="14" name="Shape 12"/>
          <p:cNvSpPr/>
          <p:nvPr/>
        </p:nvSpPr>
        <p:spPr>
          <a:xfrm>
            <a:off x="3442716" y="3867912"/>
            <a:ext cx="2656332" cy="0"/>
          </a:xfrm>
          <a:prstGeom prst="line">
            <a:avLst/>
          </a:prstGeom>
          <a:noFill/>
          <a:ln w="101600">
            <a:solidFill>
              <a:srgbClr val="235947"/>
            </a:solidFill>
            <a:prstDash val="solid"/>
            <a:headEnd type="none"/>
            <a:tailEnd type="none"/>
          </a:ln>
        </p:spPr>
      </p:sp>
      <p:sp>
        <p:nvSpPr>
          <p:cNvPr id="15" name="Shape 13"/>
          <p:cNvSpPr/>
          <p:nvPr/>
        </p:nvSpPr>
        <p:spPr>
          <a:xfrm>
            <a:off x="3602096" y="3877056"/>
            <a:ext cx="2337572" cy="658368"/>
          </a:xfrm>
          <a:prstGeom prst="arc">
            <a:avLst>
              <a:gd name="adj1" fmla="val 10800000"/>
              <a:gd name="adj2" fmla="val 0"/>
            </a:avLst>
          </a:prstGeom>
          <a:solidFill>
            <a:srgbClr val="FFFFFF">
              <a:alpha val="0"/>
            </a:srgbClr>
          </a:solidFill>
          <a:ln w="25400">
            <a:solidFill>
              <a:srgbClr val="A9C9B8"/>
            </a:solidFill>
            <a:prstDash val="solid"/>
          </a:ln>
        </p:spPr>
      </p:sp>
      <p:sp>
        <p:nvSpPr>
          <p:cNvPr id="16" name="Shape 14"/>
          <p:cNvSpPr/>
          <p:nvPr/>
        </p:nvSpPr>
        <p:spPr>
          <a:xfrm>
            <a:off x="6099048" y="3867912"/>
            <a:ext cx="2656332" cy="0"/>
          </a:xfrm>
          <a:prstGeom prst="line">
            <a:avLst/>
          </a:prstGeom>
          <a:noFill/>
          <a:ln w="101600">
            <a:solidFill>
              <a:srgbClr val="235947"/>
            </a:solidFill>
            <a:prstDash val="solid"/>
            <a:headEnd type="none"/>
            <a:tailEnd type="none"/>
          </a:ln>
        </p:spPr>
      </p:sp>
      <p:sp>
        <p:nvSpPr>
          <p:cNvPr id="17" name="Shape 15"/>
          <p:cNvSpPr/>
          <p:nvPr/>
        </p:nvSpPr>
        <p:spPr>
          <a:xfrm>
            <a:off x="6258428" y="3877056"/>
            <a:ext cx="2337572" cy="658368"/>
          </a:xfrm>
          <a:prstGeom prst="arc">
            <a:avLst>
              <a:gd name="adj1" fmla="val 10800000"/>
              <a:gd name="adj2" fmla="val 0"/>
            </a:avLst>
          </a:prstGeom>
          <a:solidFill>
            <a:srgbClr val="FFFFFF">
              <a:alpha val="0"/>
            </a:srgbClr>
          </a:solidFill>
          <a:ln w="25400">
            <a:solidFill>
              <a:srgbClr val="A9C9B8"/>
            </a:solidFill>
            <a:prstDash val="solid"/>
          </a:ln>
        </p:spPr>
      </p:sp>
      <p:sp>
        <p:nvSpPr>
          <p:cNvPr id="18" name="Shape 16"/>
          <p:cNvSpPr/>
          <p:nvPr/>
        </p:nvSpPr>
        <p:spPr>
          <a:xfrm>
            <a:off x="8773668" y="3867912"/>
            <a:ext cx="2491740" cy="0"/>
          </a:xfrm>
          <a:prstGeom prst="line">
            <a:avLst/>
          </a:prstGeom>
          <a:noFill/>
          <a:ln w="88900">
            <a:solidFill>
              <a:srgbClr val="E57861"/>
            </a:solidFill>
            <a:prstDash val="dash"/>
            <a:headEnd type="none"/>
            <a:tailEnd type="none"/>
          </a:ln>
        </p:spPr>
      </p:sp>
      <p:sp>
        <p:nvSpPr>
          <p:cNvPr id="19" name="Shape 17"/>
          <p:cNvSpPr/>
          <p:nvPr/>
        </p:nvSpPr>
        <p:spPr>
          <a:xfrm>
            <a:off x="11301984" y="3767328"/>
            <a:ext cx="201168" cy="201168"/>
          </a:xfrm>
          <a:prstGeom prst="ellipse">
            <a:avLst/>
          </a:prstGeom>
          <a:solidFill>
            <a:srgbClr val="FFFFFF"/>
          </a:solidFill>
          <a:ln w="12700">
            <a:solidFill>
              <a:srgbClr val="E57861"/>
            </a:solidFill>
            <a:prstDash val="solid"/>
          </a:ln>
        </p:spPr>
      </p:sp>
      <p:sp>
        <p:nvSpPr>
          <p:cNvPr id="20" name="Text 18"/>
          <p:cNvSpPr/>
          <p:nvPr/>
        </p:nvSpPr>
        <p:spPr>
          <a:xfrm>
            <a:off x="8782812" y="3282696"/>
            <a:ext cx="2610612" cy="219456"/>
          </a:xfrm>
          <a:prstGeom prst="rect">
            <a:avLst/>
          </a:prstGeom>
          <a:noFill/>
          <a:ln/>
        </p:spPr>
        <p:txBody>
          <a:bodyPr wrap="square" lIns="0" tIns="0" rIns="0" bIns="0" rtlCol="0" anchor="ctr">
            <a:normAutofit/>
          </a:bodyPr>
          <a:lstStyle/>
          <a:p>
            <a:pPr algn="ctr" indent="0" marL="0">
              <a:buNone/>
            </a:pPr>
            <a:r>
              <a:rPr lang="en-US" sz="1150" b="1" dirty="0">
                <a:solidFill>
                  <a:srgbClr val="B44832"/>
                </a:solidFill>
                <a:latin typeface="Arial" pitchFamily="34" charset="0"/>
                <a:ea typeface="Arial" pitchFamily="34" charset="-122"/>
                <a:cs typeface="Arial" pitchFamily="34" charset="-120"/>
              </a:rPr>
              <a:t>BUILT TODAY</a:t>
            </a:r>
            <a:endParaRPr lang="en-US" sz="1150" dirty="0"/>
          </a:p>
        </p:txBody>
      </p:sp>
      <p:sp>
        <p:nvSpPr>
          <p:cNvPr id="21" name="Shape 19"/>
          <p:cNvSpPr/>
          <p:nvPr/>
        </p:nvSpPr>
        <p:spPr>
          <a:xfrm>
            <a:off x="786384" y="3721608"/>
            <a:ext cx="7968996" cy="0"/>
          </a:xfrm>
          <a:prstGeom prst="line">
            <a:avLst/>
          </a:prstGeom>
          <a:noFill/>
          <a:ln w="25400">
            <a:solidFill>
              <a:srgbClr val="235947"/>
            </a:solidFill>
            <a:prstDash val="solid"/>
            <a:headEnd type="none"/>
            <a:tailEnd type="none"/>
          </a:ln>
        </p:spPr>
      </p:sp>
      <p:sp>
        <p:nvSpPr>
          <p:cNvPr id="22" name="Shape 20"/>
          <p:cNvSpPr/>
          <p:nvPr/>
        </p:nvSpPr>
        <p:spPr>
          <a:xfrm>
            <a:off x="786384" y="3721608"/>
            <a:ext cx="0" cy="137160"/>
          </a:xfrm>
          <a:prstGeom prst="line">
            <a:avLst/>
          </a:prstGeom>
          <a:noFill/>
          <a:ln w="16510">
            <a:solidFill>
              <a:srgbClr val="235947"/>
            </a:solidFill>
            <a:prstDash val="solid"/>
            <a:headEnd type="none"/>
            <a:tailEnd type="none"/>
          </a:ln>
        </p:spPr>
      </p:sp>
      <p:sp>
        <p:nvSpPr>
          <p:cNvPr id="23" name="Shape 21"/>
          <p:cNvSpPr/>
          <p:nvPr/>
        </p:nvSpPr>
        <p:spPr>
          <a:xfrm>
            <a:off x="3442716" y="3721608"/>
            <a:ext cx="0" cy="137160"/>
          </a:xfrm>
          <a:prstGeom prst="line">
            <a:avLst/>
          </a:prstGeom>
          <a:noFill/>
          <a:ln w="16510">
            <a:solidFill>
              <a:srgbClr val="235947"/>
            </a:solidFill>
            <a:prstDash val="solid"/>
            <a:headEnd type="none"/>
            <a:tailEnd type="none"/>
          </a:ln>
        </p:spPr>
      </p:sp>
      <p:sp>
        <p:nvSpPr>
          <p:cNvPr id="24" name="Shape 22"/>
          <p:cNvSpPr/>
          <p:nvPr/>
        </p:nvSpPr>
        <p:spPr>
          <a:xfrm>
            <a:off x="6099048" y="3721608"/>
            <a:ext cx="0" cy="137160"/>
          </a:xfrm>
          <a:prstGeom prst="line">
            <a:avLst/>
          </a:prstGeom>
          <a:noFill/>
          <a:ln w="16510">
            <a:solidFill>
              <a:srgbClr val="235947"/>
            </a:solidFill>
            <a:prstDash val="solid"/>
            <a:headEnd type="none"/>
            <a:tailEnd type="none"/>
          </a:ln>
        </p:spPr>
      </p:sp>
      <p:sp>
        <p:nvSpPr>
          <p:cNvPr id="25" name="Shape 23"/>
          <p:cNvSpPr/>
          <p:nvPr/>
        </p:nvSpPr>
        <p:spPr>
          <a:xfrm>
            <a:off x="11411712" y="3721608"/>
            <a:ext cx="0" cy="137160"/>
          </a:xfrm>
          <a:prstGeom prst="line">
            <a:avLst/>
          </a:prstGeom>
          <a:noFill/>
          <a:ln w="16510">
            <a:solidFill>
              <a:srgbClr val="235947"/>
            </a:solidFill>
            <a:prstDash val="solid"/>
            <a:headEnd type="none"/>
            <a:tailEnd type="none"/>
          </a:ln>
        </p:spPr>
      </p:sp>
      <p:sp>
        <p:nvSpPr>
          <p:cNvPr id="26" name="Text 24"/>
          <p:cNvSpPr/>
          <p:nvPr/>
        </p:nvSpPr>
        <p:spPr>
          <a:xfrm>
            <a:off x="854964" y="4352544"/>
            <a:ext cx="2519172" cy="274320"/>
          </a:xfrm>
          <a:prstGeom prst="rect">
            <a:avLst/>
          </a:prstGeom>
          <a:noFill/>
          <a:ln/>
        </p:spPr>
        <p:txBody>
          <a:bodyPr wrap="square" lIns="0" tIns="0" rIns="0" bIns="0" rtlCol="0" anchor="ctr">
            <a:normAutofit/>
          </a:bodyPr>
          <a:lstStyle/>
          <a:p>
            <a:pPr algn="ctr" indent="0" marL="0">
              <a:buNone/>
            </a:pPr>
            <a:r>
              <a:rPr lang="en-US" sz="1200" b="1" dirty="0">
                <a:solidFill>
                  <a:srgbClr val="235947"/>
                </a:solidFill>
                <a:latin typeface="Arial" pitchFamily="34" charset="0"/>
                <a:ea typeface="Arial" pitchFamily="34" charset="-122"/>
                <a:cs typeface="Arial" pitchFamily="34" charset="-120"/>
              </a:rPr>
              <a:t>LOCAL · PRIVATE</a:t>
            </a:r>
            <a:endParaRPr lang="en-US" sz="1200" dirty="0"/>
          </a:p>
        </p:txBody>
      </p:sp>
      <p:sp>
        <p:nvSpPr>
          <p:cNvPr id="27" name="Text 25"/>
          <p:cNvSpPr/>
          <p:nvPr/>
        </p:nvSpPr>
        <p:spPr>
          <a:xfrm>
            <a:off x="3511296" y="4352544"/>
            <a:ext cx="2519172" cy="274320"/>
          </a:xfrm>
          <a:prstGeom prst="rect">
            <a:avLst/>
          </a:prstGeom>
          <a:noFill/>
          <a:ln/>
        </p:spPr>
        <p:txBody>
          <a:bodyPr wrap="square" lIns="0" tIns="0" rIns="0" bIns="0" rtlCol="0" anchor="ctr">
            <a:normAutofit/>
          </a:bodyPr>
          <a:lstStyle/>
          <a:p>
            <a:pPr algn="ctr" indent="0" marL="0">
              <a:buNone/>
            </a:pPr>
            <a:r>
              <a:rPr lang="en-US" sz="1200" b="1" dirty="0">
                <a:solidFill>
                  <a:srgbClr val="235947"/>
                </a:solidFill>
                <a:latin typeface="Arial" pitchFamily="34" charset="0"/>
                <a:ea typeface="Arial" pitchFamily="34" charset="-122"/>
                <a:cs typeface="Arial" pitchFamily="34" charset="-120"/>
              </a:rPr>
              <a:t>EASY TO USE</a:t>
            </a:r>
            <a:endParaRPr lang="en-US" sz="1200" dirty="0"/>
          </a:p>
        </p:txBody>
      </p:sp>
      <p:sp>
        <p:nvSpPr>
          <p:cNvPr id="28" name="Text 26"/>
          <p:cNvSpPr/>
          <p:nvPr/>
        </p:nvSpPr>
        <p:spPr>
          <a:xfrm>
            <a:off x="6167628" y="4352544"/>
            <a:ext cx="2519172" cy="274320"/>
          </a:xfrm>
          <a:prstGeom prst="rect">
            <a:avLst/>
          </a:prstGeom>
          <a:noFill/>
          <a:ln/>
        </p:spPr>
        <p:txBody>
          <a:bodyPr wrap="square" lIns="0" tIns="0" rIns="0" bIns="0" rtlCol="0" anchor="ctr">
            <a:normAutofit/>
          </a:bodyPr>
          <a:lstStyle/>
          <a:p>
            <a:pPr algn="ctr" indent="0" marL="0">
              <a:buNone/>
            </a:pPr>
            <a:r>
              <a:rPr lang="en-US" sz="1200" b="1" dirty="0">
                <a:solidFill>
                  <a:srgbClr val="235947"/>
                </a:solidFill>
                <a:latin typeface="Arial" pitchFamily="34" charset="0"/>
                <a:ea typeface="Arial" pitchFamily="34" charset="-122"/>
                <a:cs typeface="Arial" pitchFamily="34" charset="-120"/>
              </a:rPr>
              <a:t>CLINICIAN REVIEWED</a:t>
            </a:r>
            <a:endParaRPr lang="en-US" sz="1200" dirty="0"/>
          </a:p>
        </p:txBody>
      </p:sp>
      <p:sp>
        <p:nvSpPr>
          <p:cNvPr id="29" name="Text 27"/>
          <p:cNvSpPr/>
          <p:nvPr/>
        </p:nvSpPr>
        <p:spPr>
          <a:xfrm>
            <a:off x="8823960" y="4352544"/>
            <a:ext cx="2519172" cy="274320"/>
          </a:xfrm>
          <a:prstGeom prst="rect">
            <a:avLst/>
          </a:prstGeom>
          <a:noFill/>
          <a:ln/>
        </p:spPr>
        <p:txBody>
          <a:bodyPr wrap="square" lIns="0" tIns="0" rIns="0" bIns="0" rtlCol="0" anchor="ctr">
            <a:normAutofit/>
          </a:bodyPr>
          <a:lstStyle/>
          <a:p>
            <a:pPr algn="ctr" indent="0" marL="0">
              <a:buNone/>
            </a:pPr>
            <a:r>
              <a:rPr lang="en-US" sz="1200" b="1" dirty="0">
                <a:solidFill>
                  <a:srgbClr val="235947"/>
                </a:solidFill>
                <a:latin typeface="Arial" pitchFamily="34" charset="0"/>
                <a:ea typeface="Arial" pitchFamily="34" charset="-122"/>
                <a:cs typeface="Arial" pitchFamily="34" charset="-120"/>
              </a:rPr>
              <a:t>SELF-SERVICE STYLE</a:t>
            </a:r>
            <a:endParaRPr lang="en-US" sz="1200" dirty="0"/>
          </a:p>
        </p:txBody>
      </p:sp>
      <p:sp>
        <p:nvSpPr>
          <p:cNvPr id="30" name="Text 28"/>
          <p:cNvSpPr/>
          <p:nvPr/>
        </p:nvSpPr>
        <p:spPr>
          <a:xfrm>
            <a:off x="1024128" y="5550408"/>
            <a:ext cx="4754880" cy="320040"/>
          </a:xfrm>
          <a:prstGeom prst="rect">
            <a:avLst/>
          </a:prstGeom>
          <a:noFill/>
          <a:ln/>
        </p:spPr>
        <p:txBody>
          <a:bodyPr wrap="square" lIns="0" tIns="0" rIns="0" bIns="0" rtlCol="0" anchor="ctr">
            <a:normAutofit/>
          </a:bodyPr>
          <a:lstStyle/>
          <a:p>
            <a:pPr algn="l" indent="0" marL="0">
              <a:buNone/>
            </a:pPr>
            <a:r>
              <a:rPr lang="en-US" sz="1400" b="1" dirty="0">
                <a:solidFill>
                  <a:srgbClr val="235947"/>
                </a:solidFill>
                <a:latin typeface="Arial" pitchFamily="34" charset="0"/>
                <a:ea typeface="Arial" pitchFamily="34" charset="-122"/>
                <a:cs typeface="Arial" pitchFamily="34" charset="-120"/>
              </a:rPr>
              <a:t>Scribular today:  transcript  →  draft note</a:t>
            </a:r>
            <a:endParaRPr lang="en-US" sz="1400" dirty="0"/>
          </a:p>
        </p:txBody>
      </p:sp>
      <p:sp>
        <p:nvSpPr>
          <p:cNvPr id="31" name="Text 29"/>
          <p:cNvSpPr/>
          <p:nvPr/>
        </p:nvSpPr>
        <p:spPr>
          <a:xfrm>
            <a:off x="5989320" y="5550408"/>
            <a:ext cx="4709160" cy="320040"/>
          </a:xfrm>
          <a:prstGeom prst="rect">
            <a:avLst/>
          </a:prstGeom>
          <a:noFill/>
          <a:ln/>
        </p:spPr>
        <p:txBody>
          <a:bodyPr wrap="square" lIns="0" tIns="0" rIns="0" bIns="0" rtlCol="0" anchor="ctr">
            <a:normAutofit/>
          </a:bodyPr>
          <a:lstStyle/>
          <a:p>
            <a:pPr algn="r" indent="0" marL="0">
              <a:buNone/>
            </a:pPr>
            <a:r>
              <a:rPr lang="en-US" sz="1400" b="1" dirty="0">
                <a:solidFill>
                  <a:srgbClr val="235947"/>
                </a:solidFill>
                <a:latin typeface="Arial" pitchFamily="34" charset="0"/>
                <a:ea typeface="Arial" pitchFamily="34" charset="-122"/>
                <a:cs typeface="Arial" pitchFamily="34" charset="-120"/>
              </a:rPr>
              <a:t>Built today:  customize in plain language</a:t>
            </a:r>
            <a:endParaRPr lang="en-US" sz="1400" dirty="0"/>
          </a:p>
        </p:txBody>
      </p:sp>
      <p:sp>
        <p:nvSpPr>
          <p:cNvPr id="32" name="Text 30"/>
          <p:cNvSpPr/>
          <p:nvPr/>
        </p:nvSpPr>
        <p:spPr>
          <a:xfrm>
            <a:off x="2926080" y="5943600"/>
            <a:ext cx="6400800" cy="256032"/>
          </a:xfrm>
          <a:prstGeom prst="rect">
            <a:avLst/>
          </a:prstGeom>
          <a:noFill/>
          <a:ln/>
        </p:spPr>
        <p:txBody>
          <a:bodyPr wrap="square" lIns="0" tIns="0" rIns="0" bIns="0" rtlCol="0" anchor="ctr">
            <a:normAutofit/>
          </a:bodyPr>
          <a:lstStyle/>
          <a:p>
            <a:pPr algn="ctr" indent="0" marL="0">
              <a:buNone/>
            </a:pPr>
            <a:r>
              <a:rPr lang="en-US" sz="1200" i="1" dirty="0">
                <a:solidFill>
                  <a:srgbClr val="B44832"/>
                </a:solidFill>
                <a:latin typeface="Arial" pitchFamily="34" charset="0"/>
                <a:ea typeface="Arial" pitchFamily="34" charset="-122"/>
                <a:cs typeface="Arial" pitchFamily="34" charset="-120"/>
              </a:rPr>
              <a:t>Today: the final segment, in the clinician’s own words.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77240" y="694944"/>
            <a:ext cx="109728" cy="109728"/>
          </a:xfrm>
          <a:prstGeom prst="ellipse">
            <a:avLst/>
          </a:prstGeom>
          <a:solidFill>
            <a:srgbClr val="A9C9B8"/>
          </a:solidFill>
          <a:ln w="12700">
            <a:solidFill>
              <a:srgbClr val="A9C9B8"/>
            </a:solidFill>
            <a:prstDash val="solid"/>
          </a:ln>
        </p:spPr>
      </p:sp>
      <p:sp>
        <p:nvSpPr>
          <p:cNvPr id="3" name="Text 1"/>
          <p:cNvSpPr/>
          <p:nvPr/>
        </p:nvSpPr>
        <p:spPr>
          <a:xfrm>
            <a:off x="987552" y="640080"/>
            <a:ext cx="4754880" cy="219456"/>
          </a:xfrm>
          <a:prstGeom prst="rect">
            <a:avLst/>
          </a:prstGeom>
          <a:noFill/>
          <a:ln/>
        </p:spPr>
        <p:txBody>
          <a:bodyPr wrap="square" lIns="0" tIns="0" rIns="0" bIns="0" rtlCol="0" anchor="ctr">
            <a:normAutofit/>
          </a:bodyPr>
          <a:lstStyle/>
          <a:p>
            <a:pPr algn="l" indent="0" marL="0">
              <a:buNone/>
            </a:pPr>
            <a:r>
              <a:rPr lang="en-US" sz="1100" b="1" spc="180" kern="0" dirty="0">
                <a:solidFill>
                  <a:srgbClr val="DDEFE6"/>
                </a:solidFill>
                <a:latin typeface="Arial" pitchFamily="34" charset="0"/>
                <a:ea typeface="Arial" pitchFamily="34" charset="-122"/>
                <a:cs typeface="Arial" pitchFamily="34" charset="-120"/>
              </a:rPr>
              <a:t>LIVE PRODUCT WALKTHROUGH</a:t>
            </a:r>
            <a:endParaRPr lang="en-US" sz="1100" dirty="0"/>
          </a:p>
        </p:txBody>
      </p:sp>
      <p:sp>
        <p:nvSpPr>
          <p:cNvPr id="4" name="Text 2"/>
          <p:cNvSpPr/>
          <p:nvPr/>
        </p:nvSpPr>
        <p:spPr>
          <a:xfrm>
            <a:off x="658368" y="1965960"/>
            <a:ext cx="10881360" cy="1508760"/>
          </a:xfrm>
          <a:prstGeom prst="rect">
            <a:avLst/>
          </a:prstGeom>
          <a:noFill/>
          <a:ln/>
        </p:spPr>
        <p:txBody>
          <a:bodyPr wrap="square" lIns="0" tIns="0" rIns="0" bIns="0" rtlCol="0" anchor="ctr">
            <a:normAutofit/>
          </a:bodyPr>
          <a:lstStyle/>
          <a:p>
            <a:pPr algn="ctr" indent="0" marL="0">
              <a:buNone/>
            </a:pPr>
            <a:r>
              <a:rPr lang="en-US" sz="9600" b="1" dirty="0">
                <a:solidFill>
                  <a:srgbClr val="FFFFFF"/>
                </a:solidFill>
                <a:latin typeface="Cambria" pitchFamily="34" charset="0"/>
                <a:ea typeface="Cambria" pitchFamily="34" charset="-122"/>
                <a:cs typeface="Cambria" pitchFamily="34" charset="-120"/>
              </a:rPr>
              <a:t>DEMO</a:t>
            </a:r>
            <a:endParaRPr lang="en-US" sz="9600" dirty="0"/>
          </a:p>
        </p:txBody>
      </p:sp>
      <p:sp>
        <p:nvSpPr>
          <p:cNvPr id="5" name="Text 3"/>
          <p:cNvSpPr/>
          <p:nvPr/>
        </p:nvSpPr>
        <p:spPr>
          <a:xfrm>
            <a:off x="914400" y="3794760"/>
            <a:ext cx="10360152" cy="457200"/>
          </a:xfrm>
          <a:prstGeom prst="rect">
            <a:avLst/>
          </a:prstGeom>
          <a:noFill/>
          <a:ln/>
        </p:spPr>
        <p:txBody>
          <a:bodyPr wrap="square" lIns="0" tIns="0" rIns="0" bIns="0" rtlCol="0" anchor="ctr">
            <a:normAutofit/>
          </a:bodyPr>
          <a:lstStyle/>
          <a:p>
            <a:pPr algn="ctr" indent="0" marL="0">
              <a:buNone/>
            </a:pPr>
            <a:r>
              <a:rPr lang="en-US" sz="2000" dirty="0">
                <a:solidFill>
                  <a:srgbClr val="DDEFE6"/>
                </a:solidFill>
                <a:latin typeface="Arial" pitchFamily="34" charset="0"/>
                <a:ea typeface="Arial" pitchFamily="34" charset="-122"/>
                <a:cs typeface="Arial" pitchFamily="34" charset="-120"/>
              </a:rPr>
              <a:t>Transcript  →  draft  →  request  →  review  →  preview  →  save</a:t>
            </a:r>
            <a:endParaRPr lang="en-US" sz="2000" dirty="0"/>
          </a:p>
        </p:txBody>
      </p:sp>
      <p:sp>
        <p:nvSpPr>
          <p:cNvPr id="6" name="Text 4"/>
          <p:cNvSpPr/>
          <p:nvPr/>
        </p:nvSpPr>
        <p:spPr>
          <a:xfrm>
            <a:off x="914400" y="4480560"/>
            <a:ext cx="10360152" cy="402336"/>
          </a:xfrm>
          <a:prstGeom prst="rect">
            <a:avLst/>
          </a:prstGeom>
          <a:noFill/>
          <a:ln/>
        </p:spPr>
        <p:txBody>
          <a:bodyPr wrap="square" lIns="0" tIns="0" rIns="0" bIns="0" rtlCol="0" anchor="ctr">
            <a:normAutofit/>
          </a:bodyPr>
          <a:lstStyle/>
          <a:p>
            <a:pPr algn="ctr" indent="0" marL="0">
              <a:buNone/>
            </a:pPr>
            <a:r>
              <a:rPr lang="en-US" sz="1800" i="1" dirty="0">
                <a:solidFill>
                  <a:srgbClr val="A9C9B8"/>
                </a:solidFill>
                <a:latin typeface="Arial" pitchFamily="34" charset="0"/>
                <a:ea typeface="Arial" pitchFamily="34" charset="-122"/>
                <a:cs typeface="Arial" pitchFamily="34" charset="-120"/>
              </a:rPr>
              <a:t>A clinician stays in control at every step.</a:t>
            </a:r>
            <a:endParaRPr lang="en-US" sz="1800" dirty="0"/>
          </a:p>
        </p:txBody>
      </p:sp>
      <p:sp>
        <p:nvSpPr>
          <p:cNvPr id="7" name="Text 5"/>
          <p:cNvSpPr/>
          <p:nvPr/>
        </p:nvSpPr>
        <p:spPr>
          <a:xfrm>
            <a:off x="786384" y="6437376"/>
            <a:ext cx="1828800" cy="219456"/>
          </a:xfrm>
          <a:prstGeom prst="rect">
            <a:avLst/>
          </a:prstGeom>
          <a:noFill/>
          <a:ln/>
        </p:spPr>
        <p:txBody>
          <a:bodyPr wrap="square" lIns="0" tIns="0" rIns="0" bIns="0" rtlCol="0" anchor="ctr">
            <a:normAutofit/>
          </a:bodyPr>
          <a:lstStyle/>
          <a:p>
            <a:pPr algn="l" indent="0" marL="0">
              <a:buNone/>
            </a:pPr>
            <a:r>
              <a:rPr lang="en-US" sz="1000" b="1" spc="200" kern="0" dirty="0">
                <a:solidFill>
                  <a:srgbClr val="BFDCCB"/>
                </a:solidFill>
                <a:latin typeface="Arial" pitchFamily="34" charset="0"/>
                <a:ea typeface="Arial" pitchFamily="34" charset="-122"/>
                <a:cs typeface="Arial" pitchFamily="34" charset="-120"/>
              </a:rPr>
              <a:t>SCRIBULAR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566928"/>
            <a:ext cx="2743200" cy="256032"/>
          </a:xfrm>
          <a:prstGeom prst="rect">
            <a:avLst/>
          </a:prstGeom>
          <a:noFill/>
          <a:ln/>
        </p:spPr>
        <p:txBody>
          <a:bodyPr wrap="square" lIns="0" tIns="0" rIns="0" bIns="0" rtlCol="0" anchor="ctr">
            <a:normAutofit/>
          </a:bodyPr>
          <a:lstStyle/>
          <a:p>
            <a:pPr algn="l" indent="0" marL="0">
              <a:buNone/>
            </a:pPr>
            <a:r>
              <a:rPr lang="en-US" sz="1100" b="1" spc="170" kern="0" dirty="0">
                <a:solidFill>
                  <a:srgbClr val="BFDCCB"/>
                </a:solidFill>
                <a:latin typeface="Arial" pitchFamily="34" charset="0"/>
                <a:ea typeface="Arial" pitchFamily="34" charset="-122"/>
                <a:cs typeface="Arial" pitchFamily="34" charset="-120"/>
              </a:rPr>
              <a:t>THE OUTCOME</a:t>
            </a:r>
            <a:endParaRPr lang="en-US" sz="1100" dirty="0"/>
          </a:p>
        </p:txBody>
      </p:sp>
      <p:sp>
        <p:nvSpPr>
          <p:cNvPr id="3" name="Text 1"/>
          <p:cNvSpPr/>
          <p:nvPr/>
        </p:nvSpPr>
        <p:spPr>
          <a:xfrm>
            <a:off x="658368" y="960120"/>
            <a:ext cx="7955280" cy="749808"/>
          </a:xfrm>
          <a:prstGeom prst="rect">
            <a:avLst/>
          </a:prstGeom>
          <a:noFill/>
          <a:ln/>
        </p:spPr>
        <p:txBody>
          <a:bodyPr wrap="square" lIns="0" tIns="0" rIns="0" bIns="0" rtlCol="0" anchor="ctr">
            <a:normAutofit/>
          </a:bodyPr>
          <a:lstStyle/>
          <a:p>
            <a:pPr algn="l" indent="0" marL="0">
              <a:buNone/>
            </a:pPr>
            <a:r>
              <a:rPr lang="en-US" sz="4000" b="1" dirty="0">
                <a:solidFill>
                  <a:srgbClr val="FFFFFF"/>
                </a:solidFill>
                <a:latin typeface="Cambria" pitchFamily="34" charset="0"/>
                <a:ea typeface="Cambria" pitchFamily="34" charset="-122"/>
                <a:cs typeface="Cambria" pitchFamily="34" charset="-120"/>
              </a:rPr>
              <a:t>Back to what she loves.</a:t>
            </a:r>
            <a:endParaRPr lang="en-US" sz="4000" dirty="0"/>
          </a:p>
        </p:txBody>
      </p:sp>
      <p:sp>
        <p:nvSpPr>
          <p:cNvPr id="4" name="Text 2"/>
          <p:cNvSpPr/>
          <p:nvPr/>
        </p:nvSpPr>
        <p:spPr>
          <a:xfrm>
            <a:off x="694944" y="1856232"/>
            <a:ext cx="6400800" cy="822960"/>
          </a:xfrm>
          <a:prstGeom prst="rect">
            <a:avLst/>
          </a:prstGeom>
          <a:noFill/>
          <a:ln/>
        </p:spPr>
        <p:txBody>
          <a:bodyPr wrap="square" lIns="0" tIns="0" rIns="0" bIns="0" rtlCol="0" anchor="ctr">
            <a:normAutofit/>
          </a:bodyPr>
          <a:lstStyle/>
          <a:p>
            <a:pPr algn="l" indent="0" marL="0">
              <a:buNone/>
            </a:pPr>
            <a:r>
              <a:rPr lang="en-US" sz="2000" dirty="0">
                <a:solidFill>
                  <a:srgbClr val="DDEFE6"/>
                </a:solidFill>
                <a:latin typeface="Arial" pitchFamily="34" charset="0"/>
                <a:ea typeface="Arial" pitchFamily="34" charset="-122"/>
                <a:cs typeface="Arial" pitchFamily="34" charset="-120"/>
              </a:rPr>
              <a:t>From a model that runs to a tool a therapist can use.</a:t>
            </a:r>
            <a:endParaRPr lang="en-US" sz="2000" dirty="0"/>
          </a:p>
        </p:txBody>
      </p:sp>
      <p:sp>
        <p:nvSpPr>
          <p:cNvPr id="5" name="Shape 3"/>
          <p:cNvSpPr/>
          <p:nvPr/>
        </p:nvSpPr>
        <p:spPr>
          <a:xfrm>
            <a:off x="859536" y="4425696"/>
            <a:ext cx="10442448" cy="0"/>
          </a:xfrm>
          <a:prstGeom prst="line">
            <a:avLst/>
          </a:prstGeom>
          <a:noFill/>
          <a:ln w="15240">
            <a:solidFill>
              <a:srgbClr val="D9E9E0"/>
            </a:solidFill>
            <a:prstDash val="solid"/>
            <a:headEnd type="none"/>
            <a:tailEnd type="none"/>
          </a:ln>
        </p:spPr>
      </p:sp>
      <p:sp>
        <p:nvSpPr>
          <p:cNvPr id="6" name="Shape 4"/>
          <p:cNvSpPr/>
          <p:nvPr/>
        </p:nvSpPr>
        <p:spPr>
          <a:xfrm>
            <a:off x="822960" y="3785616"/>
            <a:ext cx="228600" cy="850392"/>
          </a:xfrm>
          <a:prstGeom prst="roundRect">
            <a:avLst>
              <a:gd name="adj" fmla="val 8000"/>
            </a:avLst>
          </a:prstGeom>
          <a:solidFill>
            <a:srgbClr val="235947"/>
          </a:solidFill>
          <a:ln w="12700">
            <a:solidFill>
              <a:srgbClr val="235947">
                <a:alpha val="0"/>
              </a:srgbClr>
            </a:solidFill>
            <a:prstDash val="solid"/>
          </a:ln>
        </p:spPr>
      </p:sp>
      <p:sp>
        <p:nvSpPr>
          <p:cNvPr id="7" name="Shape 5"/>
          <p:cNvSpPr/>
          <p:nvPr/>
        </p:nvSpPr>
        <p:spPr>
          <a:xfrm>
            <a:off x="11109960" y="3785616"/>
            <a:ext cx="228600" cy="850392"/>
          </a:xfrm>
          <a:prstGeom prst="roundRect">
            <a:avLst>
              <a:gd name="adj" fmla="val 8000"/>
            </a:avLst>
          </a:prstGeom>
          <a:solidFill>
            <a:srgbClr val="235947"/>
          </a:solidFill>
          <a:ln w="12700">
            <a:solidFill>
              <a:srgbClr val="235947">
                <a:alpha val="0"/>
              </a:srgbClr>
            </a:solidFill>
            <a:prstDash val="solid"/>
          </a:ln>
        </p:spPr>
      </p:sp>
      <p:sp>
        <p:nvSpPr>
          <p:cNvPr id="8" name="Shape 6"/>
          <p:cNvSpPr/>
          <p:nvPr/>
        </p:nvSpPr>
        <p:spPr>
          <a:xfrm>
            <a:off x="859536" y="4087368"/>
            <a:ext cx="2088490" cy="0"/>
          </a:xfrm>
          <a:prstGeom prst="line">
            <a:avLst/>
          </a:prstGeom>
          <a:noFill/>
          <a:ln w="101600">
            <a:solidFill>
              <a:srgbClr val="BFDCCB"/>
            </a:solidFill>
            <a:prstDash val="solid"/>
            <a:headEnd type="none"/>
            <a:tailEnd type="none"/>
          </a:ln>
        </p:spPr>
      </p:sp>
      <p:sp>
        <p:nvSpPr>
          <p:cNvPr id="9" name="Shape 7"/>
          <p:cNvSpPr/>
          <p:nvPr/>
        </p:nvSpPr>
        <p:spPr>
          <a:xfrm>
            <a:off x="984845" y="4096512"/>
            <a:ext cx="1837871" cy="658368"/>
          </a:xfrm>
          <a:prstGeom prst="arc">
            <a:avLst>
              <a:gd name="adj1" fmla="val 10800000"/>
              <a:gd name="adj2" fmla="val 0"/>
            </a:avLst>
          </a:prstGeom>
          <a:solidFill>
            <a:srgbClr val="FFFFFF">
              <a:alpha val="0"/>
            </a:srgbClr>
          </a:solidFill>
          <a:ln w="25400">
            <a:solidFill>
              <a:srgbClr val="A9C9B8"/>
            </a:solidFill>
            <a:prstDash val="solid"/>
          </a:ln>
        </p:spPr>
      </p:sp>
      <p:sp>
        <p:nvSpPr>
          <p:cNvPr id="10" name="Shape 8"/>
          <p:cNvSpPr/>
          <p:nvPr/>
        </p:nvSpPr>
        <p:spPr>
          <a:xfrm>
            <a:off x="2948026" y="4087368"/>
            <a:ext cx="2088490" cy="0"/>
          </a:xfrm>
          <a:prstGeom prst="line">
            <a:avLst/>
          </a:prstGeom>
          <a:noFill/>
          <a:ln w="101600">
            <a:solidFill>
              <a:srgbClr val="BFDCCB"/>
            </a:solidFill>
            <a:prstDash val="solid"/>
            <a:headEnd type="none"/>
            <a:tailEnd type="none"/>
          </a:ln>
        </p:spPr>
      </p:sp>
      <p:sp>
        <p:nvSpPr>
          <p:cNvPr id="11" name="Shape 9"/>
          <p:cNvSpPr/>
          <p:nvPr/>
        </p:nvSpPr>
        <p:spPr>
          <a:xfrm>
            <a:off x="3073335" y="4096512"/>
            <a:ext cx="1837871" cy="658368"/>
          </a:xfrm>
          <a:prstGeom prst="arc">
            <a:avLst>
              <a:gd name="adj1" fmla="val 10800000"/>
              <a:gd name="adj2" fmla="val 0"/>
            </a:avLst>
          </a:prstGeom>
          <a:solidFill>
            <a:srgbClr val="FFFFFF">
              <a:alpha val="0"/>
            </a:srgbClr>
          </a:solidFill>
          <a:ln w="25400">
            <a:solidFill>
              <a:srgbClr val="A9C9B8"/>
            </a:solidFill>
            <a:prstDash val="solid"/>
          </a:ln>
        </p:spPr>
      </p:sp>
      <p:sp>
        <p:nvSpPr>
          <p:cNvPr id="12" name="Shape 10"/>
          <p:cNvSpPr/>
          <p:nvPr/>
        </p:nvSpPr>
        <p:spPr>
          <a:xfrm>
            <a:off x="5036515" y="4087368"/>
            <a:ext cx="2088490" cy="0"/>
          </a:xfrm>
          <a:prstGeom prst="line">
            <a:avLst/>
          </a:prstGeom>
          <a:noFill/>
          <a:ln w="101600">
            <a:solidFill>
              <a:srgbClr val="BFDCCB"/>
            </a:solidFill>
            <a:prstDash val="solid"/>
            <a:headEnd type="none"/>
            <a:tailEnd type="none"/>
          </a:ln>
        </p:spPr>
      </p:sp>
      <p:sp>
        <p:nvSpPr>
          <p:cNvPr id="13" name="Shape 11"/>
          <p:cNvSpPr/>
          <p:nvPr/>
        </p:nvSpPr>
        <p:spPr>
          <a:xfrm>
            <a:off x="5161825" y="4096512"/>
            <a:ext cx="1837871" cy="658368"/>
          </a:xfrm>
          <a:prstGeom prst="arc">
            <a:avLst>
              <a:gd name="adj1" fmla="val 10800000"/>
              <a:gd name="adj2" fmla="val 0"/>
            </a:avLst>
          </a:prstGeom>
          <a:solidFill>
            <a:srgbClr val="FFFFFF">
              <a:alpha val="0"/>
            </a:srgbClr>
          </a:solidFill>
          <a:ln w="25400">
            <a:solidFill>
              <a:srgbClr val="A9C9B8"/>
            </a:solidFill>
            <a:prstDash val="solid"/>
          </a:ln>
        </p:spPr>
      </p:sp>
      <p:sp>
        <p:nvSpPr>
          <p:cNvPr id="14" name="Shape 12"/>
          <p:cNvSpPr/>
          <p:nvPr/>
        </p:nvSpPr>
        <p:spPr>
          <a:xfrm>
            <a:off x="7125005" y="4087368"/>
            <a:ext cx="2088490" cy="0"/>
          </a:xfrm>
          <a:prstGeom prst="line">
            <a:avLst/>
          </a:prstGeom>
          <a:noFill/>
          <a:ln w="101600">
            <a:solidFill>
              <a:srgbClr val="BFDCCB"/>
            </a:solidFill>
            <a:prstDash val="solid"/>
            <a:headEnd type="none"/>
            <a:tailEnd type="none"/>
          </a:ln>
        </p:spPr>
      </p:sp>
      <p:sp>
        <p:nvSpPr>
          <p:cNvPr id="15" name="Shape 13"/>
          <p:cNvSpPr/>
          <p:nvPr/>
        </p:nvSpPr>
        <p:spPr>
          <a:xfrm>
            <a:off x="7250314" y="4096512"/>
            <a:ext cx="1837871" cy="658368"/>
          </a:xfrm>
          <a:prstGeom prst="arc">
            <a:avLst>
              <a:gd name="adj1" fmla="val 10800000"/>
              <a:gd name="adj2" fmla="val 0"/>
            </a:avLst>
          </a:prstGeom>
          <a:solidFill>
            <a:srgbClr val="FFFFFF">
              <a:alpha val="0"/>
            </a:srgbClr>
          </a:solidFill>
          <a:ln w="25400">
            <a:solidFill>
              <a:srgbClr val="A9C9B8"/>
            </a:solidFill>
            <a:prstDash val="solid"/>
          </a:ln>
        </p:spPr>
      </p:sp>
      <p:sp>
        <p:nvSpPr>
          <p:cNvPr id="16" name="Shape 14"/>
          <p:cNvSpPr/>
          <p:nvPr/>
        </p:nvSpPr>
        <p:spPr>
          <a:xfrm>
            <a:off x="9213494" y="4087368"/>
            <a:ext cx="2088490" cy="0"/>
          </a:xfrm>
          <a:prstGeom prst="line">
            <a:avLst/>
          </a:prstGeom>
          <a:noFill/>
          <a:ln w="101600">
            <a:solidFill>
              <a:srgbClr val="BFDCCB"/>
            </a:solidFill>
            <a:prstDash val="solid"/>
            <a:headEnd type="none"/>
            <a:tailEnd type="none"/>
          </a:ln>
        </p:spPr>
      </p:sp>
      <p:sp>
        <p:nvSpPr>
          <p:cNvPr id="17" name="Shape 15"/>
          <p:cNvSpPr/>
          <p:nvPr/>
        </p:nvSpPr>
        <p:spPr>
          <a:xfrm>
            <a:off x="9338804" y="4096512"/>
            <a:ext cx="1837871" cy="658368"/>
          </a:xfrm>
          <a:prstGeom prst="arc">
            <a:avLst>
              <a:gd name="adj1" fmla="val 10800000"/>
              <a:gd name="adj2" fmla="val 0"/>
            </a:avLst>
          </a:prstGeom>
          <a:solidFill>
            <a:srgbClr val="FFFFFF">
              <a:alpha val="0"/>
            </a:srgbClr>
          </a:solidFill>
          <a:ln w="25400">
            <a:solidFill>
              <a:srgbClr val="A9C9B8"/>
            </a:solidFill>
            <a:prstDash val="solid"/>
          </a:ln>
        </p:spPr>
      </p:sp>
      <p:sp>
        <p:nvSpPr>
          <p:cNvPr id="18" name="Shape 16"/>
          <p:cNvSpPr/>
          <p:nvPr/>
        </p:nvSpPr>
        <p:spPr>
          <a:xfrm>
            <a:off x="859536" y="3941064"/>
            <a:ext cx="10442448" cy="0"/>
          </a:xfrm>
          <a:prstGeom prst="line">
            <a:avLst/>
          </a:prstGeom>
          <a:noFill/>
          <a:ln w="25400">
            <a:solidFill>
              <a:srgbClr val="BFDCCB"/>
            </a:solidFill>
            <a:prstDash val="solid"/>
            <a:headEnd type="none"/>
            <a:tailEnd type="none"/>
          </a:ln>
        </p:spPr>
      </p:sp>
      <p:sp>
        <p:nvSpPr>
          <p:cNvPr id="19" name="Shape 17"/>
          <p:cNvSpPr/>
          <p:nvPr/>
        </p:nvSpPr>
        <p:spPr>
          <a:xfrm>
            <a:off x="859536" y="3941064"/>
            <a:ext cx="0" cy="137160"/>
          </a:xfrm>
          <a:prstGeom prst="line">
            <a:avLst/>
          </a:prstGeom>
          <a:noFill/>
          <a:ln w="16510">
            <a:solidFill>
              <a:srgbClr val="BFDCCB"/>
            </a:solidFill>
            <a:prstDash val="solid"/>
            <a:headEnd type="none"/>
            <a:tailEnd type="none"/>
          </a:ln>
        </p:spPr>
      </p:sp>
      <p:sp>
        <p:nvSpPr>
          <p:cNvPr id="20" name="Shape 18"/>
          <p:cNvSpPr/>
          <p:nvPr/>
        </p:nvSpPr>
        <p:spPr>
          <a:xfrm>
            <a:off x="2948026" y="3941064"/>
            <a:ext cx="0" cy="137160"/>
          </a:xfrm>
          <a:prstGeom prst="line">
            <a:avLst/>
          </a:prstGeom>
          <a:noFill/>
          <a:ln w="16510">
            <a:solidFill>
              <a:srgbClr val="BFDCCB"/>
            </a:solidFill>
            <a:prstDash val="solid"/>
            <a:headEnd type="none"/>
            <a:tailEnd type="none"/>
          </a:ln>
        </p:spPr>
      </p:sp>
      <p:sp>
        <p:nvSpPr>
          <p:cNvPr id="21" name="Shape 19"/>
          <p:cNvSpPr/>
          <p:nvPr/>
        </p:nvSpPr>
        <p:spPr>
          <a:xfrm>
            <a:off x="5036515" y="3941064"/>
            <a:ext cx="0" cy="137160"/>
          </a:xfrm>
          <a:prstGeom prst="line">
            <a:avLst/>
          </a:prstGeom>
          <a:noFill/>
          <a:ln w="16510">
            <a:solidFill>
              <a:srgbClr val="BFDCCB"/>
            </a:solidFill>
            <a:prstDash val="solid"/>
            <a:headEnd type="none"/>
            <a:tailEnd type="none"/>
          </a:ln>
        </p:spPr>
      </p:sp>
      <p:sp>
        <p:nvSpPr>
          <p:cNvPr id="22" name="Shape 20"/>
          <p:cNvSpPr/>
          <p:nvPr/>
        </p:nvSpPr>
        <p:spPr>
          <a:xfrm>
            <a:off x="7125005" y="3941064"/>
            <a:ext cx="0" cy="137160"/>
          </a:xfrm>
          <a:prstGeom prst="line">
            <a:avLst/>
          </a:prstGeom>
          <a:noFill/>
          <a:ln w="16510">
            <a:solidFill>
              <a:srgbClr val="BFDCCB"/>
            </a:solidFill>
            <a:prstDash val="solid"/>
            <a:headEnd type="none"/>
            <a:tailEnd type="none"/>
          </a:ln>
        </p:spPr>
      </p:sp>
      <p:sp>
        <p:nvSpPr>
          <p:cNvPr id="23" name="Shape 21"/>
          <p:cNvSpPr/>
          <p:nvPr/>
        </p:nvSpPr>
        <p:spPr>
          <a:xfrm>
            <a:off x="9213494" y="3941064"/>
            <a:ext cx="0" cy="137160"/>
          </a:xfrm>
          <a:prstGeom prst="line">
            <a:avLst/>
          </a:prstGeom>
          <a:noFill/>
          <a:ln w="16510">
            <a:solidFill>
              <a:srgbClr val="BFDCCB"/>
            </a:solidFill>
            <a:prstDash val="solid"/>
            <a:headEnd type="none"/>
            <a:tailEnd type="none"/>
          </a:ln>
        </p:spPr>
      </p:sp>
      <p:sp>
        <p:nvSpPr>
          <p:cNvPr id="24" name="Shape 22"/>
          <p:cNvSpPr/>
          <p:nvPr/>
        </p:nvSpPr>
        <p:spPr>
          <a:xfrm>
            <a:off x="11301984" y="3941064"/>
            <a:ext cx="0" cy="137160"/>
          </a:xfrm>
          <a:prstGeom prst="line">
            <a:avLst/>
          </a:prstGeom>
          <a:noFill/>
          <a:ln w="16510">
            <a:solidFill>
              <a:srgbClr val="BFDCCB"/>
            </a:solidFill>
            <a:prstDash val="solid"/>
            <a:headEnd type="none"/>
            <a:tailEnd type="none"/>
          </a:ln>
        </p:spPr>
      </p:sp>
      <p:sp>
        <p:nvSpPr>
          <p:cNvPr id="25" name="Text 23"/>
          <p:cNvSpPr/>
          <p:nvPr/>
        </p:nvSpPr>
        <p:spPr>
          <a:xfrm>
            <a:off x="928116" y="4572000"/>
            <a:ext cx="2473452" cy="274320"/>
          </a:xfrm>
          <a:prstGeom prst="rect">
            <a:avLst/>
          </a:prstGeom>
          <a:noFill/>
          <a:ln/>
        </p:spPr>
        <p:txBody>
          <a:bodyPr wrap="square" lIns="0" tIns="0" rIns="0" bIns="0" rtlCol="0" anchor="ctr">
            <a:normAutofit/>
          </a:bodyPr>
          <a:lstStyle/>
          <a:p>
            <a:pPr algn="ctr" indent="0" marL="0">
              <a:buNone/>
            </a:pPr>
            <a:r>
              <a:rPr lang="en-US" sz="1200" b="1" dirty="0">
                <a:solidFill>
                  <a:srgbClr val="BFDCCB"/>
                </a:solidFill>
                <a:latin typeface="Arial" pitchFamily="34" charset="0"/>
                <a:ea typeface="Arial" pitchFamily="34" charset="-122"/>
                <a:cs typeface="Arial" pitchFamily="34" charset="-120"/>
              </a:rPr>
              <a:t>LOCAL · PRIVATE</a:t>
            </a:r>
            <a:endParaRPr lang="en-US" sz="1200" dirty="0"/>
          </a:p>
        </p:txBody>
      </p:sp>
      <p:sp>
        <p:nvSpPr>
          <p:cNvPr id="26" name="Text 24"/>
          <p:cNvSpPr/>
          <p:nvPr/>
        </p:nvSpPr>
        <p:spPr>
          <a:xfrm>
            <a:off x="3538728" y="4572000"/>
            <a:ext cx="2473452" cy="274320"/>
          </a:xfrm>
          <a:prstGeom prst="rect">
            <a:avLst/>
          </a:prstGeom>
          <a:noFill/>
          <a:ln/>
        </p:spPr>
        <p:txBody>
          <a:bodyPr wrap="square" lIns="0" tIns="0" rIns="0" bIns="0" rtlCol="0" anchor="ctr">
            <a:normAutofit/>
          </a:bodyPr>
          <a:lstStyle/>
          <a:p>
            <a:pPr algn="ctr" indent="0" marL="0">
              <a:buNone/>
            </a:pPr>
            <a:r>
              <a:rPr lang="en-US" sz="1200" b="1" dirty="0">
                <a:solidFill>
                  <a:srgbClr val="BFDCCB"/>
                </a:solidFill>
                <a:latin typeface="Arial" pitchFamily="34" charset="0"/>
                <a:ea typeface="Arial" pitchFamily="34" charset="-122"/>
                <a:cs typeface="Arial" pitchFamily="34" charset="-120"/>
              </a:rPr>
              <a:t>EASY TO USE</a:t>
            </a:r>
            <a:endParaRPr lang="en-US" sz="1200" dirty="0"/>
          </a:p>
        </p:txBody>
      </p:sp>
      <p:sp>
        <p:nvSpPr>
          <p:cNvPr id="27" name="Text 25"/>
          <p:cNvSpPr/>
          <p:nvPr/>
        </p:nvSpPr>
        <p:spPr>
          <a:xfrm>
            <a:off x="6149340" y="4572000"/>
            <a:ext cx="2473452" cy="274320"/>
          </a:xfrm>
          <a:prstGeom prst="rect">
            <a:avLst/>
          </a:prstGeom>
          <a:noFill/>
          <a:ln/>
        </p:spPr>
        <p:txBody>
          <a:bodyPr wrap="square" lIns="0" tIns="0" rIns="0" bIns="0" rtlCol="0" anchor="ctr">
            <a:normAutofit/>
          </a:bodyPr>
          <a:lstStyle/>
          <a:p>
            <a:pPr algn="ctr" indent="0" marL="0">
              <a:buNone/>
            </a:pPr>
            <a:r>
              <a:rPr lang="en-US" sz="1200" b="1" dirty="0">
                <a:solidFill>
                  <a:srgbClr val="BFDCCB"/>
                </a:solidFill>
                <a:latin typeface="Arial" pitchFamily="34" charset="0"/>
                <a:ea typeface="Arial" pitchFamily="34" charset="-122"/>
                <a:cs typeface="Arial" pitchFamily="34" charset="-120"/>
              </a:rPr>
              <a:t>CLINICIAN REVIEWED</a:t>
            </a:r>
            <a:endParaRPr lang="en-US" sz="1200" dirty="0"/>
          </a:p>
        </p:txBody>
      </p:sp>
      <p:sp>
        <p:nvSpPr>
          <p:cNvPr id="28" name="Text 26"/>
          <p:cNvSpPr/>
          <p:nvPr/>
        </p:nvSpPr>
        <p:spPr>
          <a:xfrm>
            <a:off x="8759952" y="4572000"/>
            <a:ext cx="2473452" cy="274320"/>
          </a:xfrm>
          <a:prstGeom prst="rect">
            <a:avLst/>
          </a:prstGeom>
          <a:noFill/>
          <a:ln/>
        </p:spPr>
        <p:txBody>
          <a:bodyPr wrap="square" lIns="0" tIns="0" rIns="0" bIns="0" rtlCol="0" anchor="ctr">
            <a:normAutofit/>
          </a:bodyPr>
          <a:lstStyle/>
          <a:p>
            <a:pPr algn="ctr" indent="0" marL="0">
              <a:buNone/>
            </a:pPr>
            <a:r>
              <a:rPr lang="en-US" sz="1200" b="1" dirty="0">
                <a:solidFill>
                  <a:srgbClr val="BFDCCB"/>
                </a:solidFill>
                <a:latin typeface="Arial" pitchFamily="34" charset="0"/>
                <a:ea typeface="Arial" pitchFamily="34" charset="-122"/>
                <a:cs typeface="Arial" pitchFamily="34" charset="-120"/>
              </a:rPr>
              <a:t>SELF-SERVICE STYLE</a:t>
            </a:r>
            <a:endParaRPr lang="en-US" sz="1200" dirty="0"/>
          </a:p>
        </p:txBody>
      </p:sp>
      <p:sp>
        <p:nvSpPr>
          <p:cNvPr id="29" name="Shape 27"/>
          <p:cNvSpPr/>
          <p:nvPr/>
        </p:nvSpPr>
        <p:spPr>
          <a:xfrm>
            <a:off x="7726680" y="1828800"/>
            <a:ext cx="1591056" cy="1069848"/>
          </a:xfrm>
          <a:prstGeom prst="roundRect">
            <a:avLst>
              <a:gd name="adj" fmla="val 10256"/>
            </a:avLst>
          </a:prstGeom>
          <a:solidFill>
            <a:srgbClr val="1B4A3C"/>
          </a:solidFill>
          <a:ln w="12700">
            <a:solidFill>
              <a:srgbClr val="376D58"/>
            </a:solidFill>
            <a:prstDash val="solid"/>
          </a:ln>
        </p:spPr>
      </p:sp>
      <p:sp>
        <p:nvSpPr>
          <p:cNvPr id="30" name="Text 28"/>
          <p:cNvSpPr/>
          <p:nvPr/>
        </p:nvSpPr>
        <p:spPr>
          <a:xfrm>
            <a:off x="7882128" y="1993392"/>
            <a:ext cx="1280160" cy="32004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5+ hours</a:t>
            </a:r>
            <a:endParaRPr lang="en-US" sz="2200" dirty="0"/>
          </a:p>
        </p:txBody>
      </p:sp>
      <p:sp>
        <p:nvSpPr>
          <p:cNvPr id="31" name="Text 29"/>
          <p:cNvSpPr/>
          <p:nvPr/>
        </p:nvSpPr>
        <p:spPr>
          <a:xfrm>
            <a:off x="7882128" y="2340864"/>
            <a:ext cx="1280160" cy="237744"/>
          </a:xfrm>
          <a:prstGeom prst="rect">
            <a:avLst/>
          </a:prstGeom>
          <a:noFill/>
          <a:ln/>
        </p:spPr>
        <p:txBody>
          <a:bodyPr wrap="square" lIns="0" tIns="0" rIns="0" bIns="0" rtlCol="0" anchor="ctr">
            <a:normAutofit/>
          </a:bodyPr>
          <a:lstStyle/>
          <a:p>
            <a:pPr algn="ctr" indent="0" marL="0">
              <a:buNone/>
            </a:pPr>
            <a:r>
              <a:rPr lang="en-US" sz="1200" b="1" dirty="0">
                <a:solidFill>
                  <a:srgbClr val="BFDCCB"/>
                </a:solidFill>
                <a:latin typeface="Arial" pitchFamily="34" charset="0"/>
                <a:ea typeface="Arial" pitchFamily="34" charset="-122"/>
                <a:cs typeface="Arial" pitchFamily="34" charset="-120"/>
              </a:rPr>
              <a:t>/ week</a:t>
            </a:r>
            <a:endParaRPr lang="en-US" sz="1200" dirty="0"/>
          </a:p>
        </p:txBody>
      </p:sp>
      <p:sp>
        <p:nvSpPr>
          <p:cNvPr id="32" name="Shape 30"/>
          <p:cNvSpPr/>
          <p:nvPr/>
        </p:nvSpPr>
        <p:spPr>
          <a:xfrm>
            <a:off x="9491472" y="1828800"/>
            <a:ext cx="1847088" cy="1069848"/>
          </a:xfrm>
          <a:prstGeom prst="roundRect">
            <a:avLst>
              <a:gd name="adj" fmla="val 10256"/>
            </a:avLst>
          </a:prstGeom>
          <a:solidFill>
            <a:srgbClr val="1B4A3C"/>
          </a:solidFill>
          <a:ln w="12700">
            <a:solidFill>
              <a:srgbClr val="376D58"/>
            </a:solidFill>
            <a:prstDash val="solid"/>
          </a:ln>
        </p:spPr>
      </p:sp>
      <p:sp>
        <p:nvSpPr>
          <p:cNvPr id="33" name="Text 31"/>
          <p:cNvSpPr/>
          <p:nvPr/>
        </p:nvSpPr>
        <p:spPr>
          <a:xfrm>
            <a:off x="9619488" y="1993392"/>
            <a:ext cx="1600200" cy="32004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rial" pitchFamily="34" charset="0"/>
                <a:ea typeface="Arial" pitchFamily="34" charset="-122"/>
                <a:cs typeface="Arial" pitchFamily="34" charset="-120"/>
              </a:rPr>
              <a:t>$3,000</a:t>
            </a:r>
            <a:endParaRPr lang="en-US" sz="2200" dirty="0"/>
          </a:p>
        </p:txBody>
      </p:sp>
      <p:sp>
        <p:nvSpPr>
          <p:cNvPr id="34" name="Text 32"/>
          <p:cNvSpPr/>
          <p:nvPr/>
        </p:nvSpPr>
        <p:spPr>
          <a:xfrm>
            <a:off x="9619488" y="2340864"/>
            <a:ext cx="1600200" cy="237744"/>
          </a:xfrm>
          <a:prstGeom prst="rect">
            <a:avLst/>
          </a:prstGeom>
          <a:noFill/>
          <a:ln/>
        </p:spPr>
        <p:txBody>
          <a:bodyPr wrap="square" lIns="0" tIns="0" rIns="0" bIns="0" rtlCol="0" anchor="ctr">
            <a:normAutofit/>
          </a:bodyPr>
          <a:lstStyle/>
          <a:p>
            <a:pPr algn="ctr" indent="0" marL="0">
              <a:buNone/>
            </a:pPr>
            <a:r>
              <a:rPr lang="en-US" sz="1200" b="1" dirty="0">
                <a:solidFill>
                  <a:srgbClr val="BFDCCB"/>
                </a:solidFill>
                <a:latin typeface="Arial" pitchFamily="34" charset="0"/>
                <a:ea typeface="Arial" pitchFamily="34" charset="-122"/>
                <a:cs typeface="Arial" pitchFamily="34" charset="-120"/>
              </a:rPr>
              <a:t>/ month</a:t>
            </a:r>
            <a:endParaRPr lang="en-US" sz="1200" dirty="0"/>
          </a:p>
        </p:txBody>
      </p:sp>
      <p:sp>
        <p:nvSpPr>
          <p:cNvPr id="35" name="Text 33"/>
          <p:cNvSpPr/>
          <p:nvPr/>
        </p:nvSpPr>
        <p:spPr>
          <a:xfrm>
            <a:off x="7452360" y="2999232"/>
            <a:ext cx="3886200" cy="237744"/>
          </a:xfrm>
          <a:prstGeom prst="rect">
            <a:avLst/>
          </a:prstGeom>
          <a:noFill/>
          <a:ln/>
        </p:spPr>
        <p:txBody>
          <a:bodyPr wrap="square" lIns="0" tIns="0" rIns="0" bIns="0" rtlCol="0" anchor="ctr">
            <a:normAutofit/>
          </a:bodyPr>
          <a:lstStyle/>
          <a:p>
            <a:pPr algn="r" indent="0" marL="0">
              <a:buNone/>
            </a:pPr>
            <a:r>
              <a:rPr lang="en-US" sz="1100" b="1" spc="120" kern="0" dirty="0">
                <a:solidFill>
                  <a:srgbClr val="BFDCCB"/>
                </a:solidFill>
                <a:latin typeface="Arial" pitchFamily="34" charset="0"/>
                <a:ea typeface="Arial" pitchFamily="34" charset="-122"/>
                <a:cs typeface="Arial" pitchFamily="34" charset="-120"/>
              </a:rPr>
              <a:t>ILLUSTRATIVE GOAL</a:t>
            </a:r>
            <a:endParaRPr lang="en-US" sz="1100" dirty="0"/>
          </a:p>
        </p:txBody>
      </p:sp>
      <p:sp>
        <p:nvSpPr>
          <p:cNvPr id="36" name="Text 34"/>
          <p:cNvSpPr/>
          <p:nvPr/>
        </p:nvSpPr>
        <p:spPr>
          <a:xfrm>
            <a:off x="713232" y="5870448"/>
            <a:ext cx="10698480" cy="420624"/>
          </a:xfrm>
          <a:prstGeom prst="rect">
            <a:avLst/>
          </a:prstGeom>
          <a:noFill/>
          <a:ln/>
        </p:spPr>
        <p:txBody>
          <a:bodyPr wrap="square" lIns="0" tIns="0" rIns="0" bIns="0" rtlCol="0" anchor="ctr">
            <a:normAutofit/>
          </a:bodyPr>
          <a:lstStyle/>
          <a:p>
            <a:pPr algn="l" indent="0" marL="0">
              <a:buNone/>
            </a:pPr>
            <a:r>
              <a:rPr lang="en-US" sz="1100" dirty="0">
                <a:solidFill>
                  <a:srgbClr val="BFDCCB"/>
                </a:solidFill>
                <a:latin typeface="Arial" pitchFamily="34" charset="0"/>
                <a:ea typeface="Arial" pitchFamily="34" charset="-122"/>
                <a:cs typeface="Arial" pitchFamily="34" charset="-120"/>
              </a:rPr>
              <a:t>Illustrative value of time: 5 hrs/week × 4 weeks × $150/hr = $3,000/month. Not cash savings; estimate is unvalidated and not a measured Scribular result.</a:t>
            </a:r>
            <a:endParaRPr lang="en-US" sz="1100" dirty="0"/>
          </a:p>
        </p:txBody>
      </p:sp>
      <p:sp>
        <p:nvSpPr>
          <p:cNvPr id="37" name="Text 35"/>
          <p:cNvSpPr/>
          <p:nvPr/>
        </p:nvSpPr>
        <p:spPr>
          <a:xfrm>
            <a:off x="7498080" y="5394960"/>
            <a:ext cx="3657600" cy="310896"/>
          </a:xfrm>
          <a:prstGeom prst="rect">
            <a:avLst/>
          </a:prstGeom>
          <a:noFill/>
          <a:ln/>
        </p:spPr>
        <p:txBody>
          <a:bodyPr wrap="square" lIns="0" tIns="0" rIns="0" bIns="0" rtlCol="0" anchor="ctr">
            <a:normAutofit/>
          </a:bodyPr>
          <a:lstStyle/>
          <a:p>
            <a:pPr algn="r" indent="0" marL="0">
              <a:buNone/>
            </a:pPr>
            <a:r>
              <a:rPr lang="en-US" sz="2100" b="1" dirty="0">
                <a:solidFill>
                  <a:srgbClr val="FFFFFF"/>
                </a:solidFill>
                <a:latin typeface="Cambria" pitchFamily="34" charset="0"/>
                <a:ea typeface="Cambria" pitchFamily="34" charset="-122"/>
                <a:cs typeface="Cambria" pitchFamily="34" charset="-120"/>
              </a:rPr>
              <a:t>More time with clients.</a:t>
            </a:r>
            <a:endParaRPr lang="en-US" sz="2100" dirty="0"/>
          </a:p>
        </p:txBody>
      </p:sp>
      <p:sp>
        <p:nvSpPr>
          <p:cNvPr id="38" name="Text 36"/>
          <p:cNvSpPr/>
          <p:nvPr/>
        </p:nvSpPr>
        <p:spPr>
          <a:xfrm>
            <a:off x="658368" y="6437376"/>
            <a:ext cx="1828800" cy="219456"/>
          </a:xfrm>
          <a:prstGeom prst="rect">
            <a:avLst/>
          </a:prstGeom>
          <a:noFill/>
          <a:ln/>
        </p:spPr>
        <p:txBody>
          <a:bodyPr wrap="square" lIns="0" tIns="0" rIns="0" bIns="0" rtlCol="0" anchor="ctr">
            <a:normAutofit/>
          </a:bodyPr>
          <a:lstStyle/>
          <a:p>
            <a:pPr algn="l" indent="0" marL="0">
              <a:buNone/>
            </a:pPr>
            <a:r>
              <a:rPr lang="en-US" sz="1000" b="1" spc="200" kern="0" dirty="0">
                <a:solidFill>
                  <a:srgbClr val="BFDCCB"/>
                </a:solidFill>
                <a:latin typeface="Arial" pitchFamily="34" charset="0"/>
                <a:ea typeface="Arial" pitchFamily="34" charset="-122"/>
                <a:cs typeface="Arial" pitchFamily="34" charset="-120"/>
              </a:rPr>
              <a:t>SCRIBULAR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Scribular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Scribular — Local AI, made usable</dc:title>
  <dc:subject>Pitch deck</dc:subject>
  <dc:creator>Scribular</dc:creator>
  <cp:lastModifiedBy>Scribular</cp:lastModifiedBy>
  <cp:revision>1</cp:revision>
  <dcterms:created xsi:type="dcterms:W3CDTF">2026-10-26T00:01:45Z</dcterms:created>
  <dcterms:modified xsi:type="dcterms:W3CDTF">2026-10-26T00:01:45Z</dcterms:modified>
</cp:coreProperties>
</file>